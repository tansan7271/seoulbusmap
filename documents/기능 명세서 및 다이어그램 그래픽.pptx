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72" r:id="rId1"/>
  </p:sldMasterIdLst>
  <p:sldIdLst>
    <p:sldId id="256" r:id="rId2"/>
    <p:sldId id="257" r:id="rId3"/>
    <p:sldId id="259" r:id="rId4"/>
    <p:sldId id="260" r:id="rId5"/>
    <p:sldId id="258" r:id="rId6"/>
  </p:sldIdLst>
  <p:sldSz cx="6858000" cy="9906000" type="A4"/>
  <p:notesSz cx="6858000" cy="9144000"/>
  <p:embeddedFontLst>
    <p:embeddedFont>
      <p:font typeface="Cascadia Code" panose="020B0609020000020004" pitchFamily="34" charset="0"/>
      <p:regular r:id="rId7"/>
      <p:bold r:id="rId8"/>
      <p:italic r:id="rId9"/>
      <p:boldItalic r:id="rId10"/>
    </p:embeddedFont>
    <p:embeddedFont>
      <p:font typeface="Pretendard" panose="02000503000000020004" pitchFamily="2" charset="-127"/>
      <p:regular r:id="rId11"/>
      <p:bold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4B29C"/>
    <a:srgbClr val="4DC9B0"/>
    <a:srgbClr val="FFDADB"/>
    <a:srgbClr val="FFECB2"/>
    <a:srgbClr val="FFC0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51"/>
    <p:restoredTop sz="94706"/>
  </p:normalViewPr>
  <p:slideViewPr>
    <p:cSldViewPr snapToGrid="0">
      <p:cViewPr>
        <p:scale>
          <a:sx n="199" d="100"/>
          <a:sy n="199" d="100"/>
        </p:scale>
        <p:origin x="656" y="-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10" cy="7201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2.fntdata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1.fntdata"/><Relationship Id="rId12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font" Target="fonts/font3.fntdata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10/27/25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5210555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10/27/25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5791737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10/27/25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1049207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10/27/25</a:t>
            </a:fld>
            <a:endParaRPr lang="en-K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418772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10/27/25</a:t>
            </a:fld>
            <a:endParaRPr lang="en-K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6015540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10/27/25</a:t>
            </a:fld>
            <a:endParaRPr lang="en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1103822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10/27/25</a:t>
            </a:fld>
            <a:endParaRPr lang="en-K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540621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2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10/27/25</a:t>
            </a:fld>
            <a:endParaRPr lang="en-K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1753090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2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10/27/25</a:t>
            </a:fld>
            <a:endParaRPr lang="en-K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25608621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10/27/25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9820007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CF496E-1423-0F43-9D3A-7484EF9BE24D}" type="datetimeFigureOut">
              <a:rPr lang="en-KR" smtClean="0"/>
              <a:t>10/27/25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427070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CF496E-1423-0F43-9D3A-7484EF9BE24D}" type="datetimeFigureOut">
              <a:rPr lang="en-KR" smtClean="0"/>
              <a:t>10/27/25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F5AB8B-8C34-C042-9E7D-899000BBE8A4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44879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8CCB5D2-3AE2-B06B-8E68-7711B26565C4}"/>
              </a:ext>
            </a:extLst>
          </p:cNvPr>
          <p:cNvSpPr>
            <a:spLocks/>
          </p:cNvSpPr>
          <p:nvPr/>
        </p:nvSpPr>
        <p:spPr>
          <a:xfrm>
            <a:off x="0" y="0"/>
            <a:ext cx="3429000" cy="405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5000" tIns="35100" rIns="67500" bIns="67500" numCol="1" rtlCol="0" anchor="b"/>
          <a:lstStyle/>
          <a:p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./main/</a:t>
            </a:r>
            <a:r>
              <a:rPr lang="en-US" altLang="ko-KR" sz="9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models.py</a:t>
            </a:r>
            <a:r>
              <a:rPr lang="ko-KR" alt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&gt;</a:t>
            </a:r>
            <a:r>
              <a:rPr lang="ko-KR" alt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9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HangJeongDong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CC9A734-389E-4F3E-8E98-C6F629B9EB18}"/>
              </a:ext>
            </a:extLst>
          </p:cNvPr>
          <p:cNvSpPr>
            <a:spLocks/>
          </p:cNvSpPr>
          <p:nvPr/>
        </p:nvSpPr>
        <p:spPr>
          <a:xfrm>
            <a:off x="3429000" y="0"/>
            <a:ext cx="3429000" cy="405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7500" tIns="35100" rIns="135000" bIns="67500" numCol="1" rtlCol="0" anchor="b"/>
          <a:lstStyle/>
          <a:p>
            <a:pPr algn="r"/>
            <a:r>
              <a:rPr lang="en-US" altLang="ko-KR" sz="900" b="1" dirty="0" err="1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seoulbusmap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프로젝트에 사용될 데이터 구조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모델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을 정의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B1E0BF-5522-7012-88A3-03BC119EE160}"/>
              </a:ext>
            </a:extLst>
          </p:cNvPr>
          <p:cNvSpPr txBox="1"/>
          <p:nvPr/>
        </p:nvSpPr>
        <p:spPr>
          <a:xfrm>
            <a:off x="2160573" y="815251"/>
            <a:ext cx="4494347" cy="7131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행정동별 인구 수에 대비한 데이터 분석 결과를 도출하기 위해 받아오는 데이터입니다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자주 큰 폭으로 바뀌는 데이터는 아니지만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어느 정도 시기에 따른 정확도는 필요한 데이터라고 판단하였습니다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장기적 관점에서 이뤄지는 교통 정책에 대응할 수 있도록 비교적 넓은 간격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 달 등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으로라도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데이터를 새로 받아 최신화 할 소요가 있습니다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B6512E5-53CA-8E05-D169-2A38C9DC76B3}"/>
              </a:ext>
            </a:extLst>
          </p:cNvPr>
          <p:cNvSpPr/>
          <p:nvPr/>
        </p:nvSpPr>
        <p:spPr>
          <a:xfrm>
            <a:off x="203077" y="607501"/>
            <a:ext cx="1754999" cy="34074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500ED77-6BAE-4FAF-B0B5-B57A6084411E}"/>
              </a:ext>
            </a:extLst>
          </p:cNvPr>
          <p:cNvSpPr/>
          <p:nvPr/>
        </p:nvSpPr>
        <p:spPr>
          <a:xfrm>
            <a:off x="203079" y="607500"/>
            <a:ext cx="1754999" cy="710066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792B4A-C072-7470-10A2-AF5A583EC917}"/>
              </a:ext>
            </a:extLst>
          </p:cNvPr>
          <p:cNvSpPr txBox="1"/>
          <p:nvPr/>
        </p:nvSpPr>
        <p:spPr>
          <a:xfrm>
            <a:off x="203076" y="607499"/>
            <a:ext cx="1754997" cy="298719"/>
          </a:xfrm>
          <a:prstGeom prst="rect">
            <a:avLst/>
          </a:prstGeom>
          <a:noFill/>
        </p:spPr>
        <p:txBody>
          <a:bodyPr wrap="square" lIns="135000" tIns="135000" rIns="67500" bIns="35100" rtlCol="0">
            <a:spAutoFit/>
          </a:bodyPr>
          <a:lstStyle/>
          <a:p>
            <a:r>
              <a:rPr lang="en-US" sz="82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HangJeongDong</a:t>
            </a:r>
            <a:endParaRPr lang="en-KR" sz="825" b="1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15514A5-DD80-8BBE-92EF-CE04221BDAD5}"/>
              </a:ext>
            </a:extLst>
          </p:cNvPr>
          <p:cNvSpPr txBox="1"/>
          <p:nvPr/>
        </p:nvSpPr>
        <p:spPr>
          <a:xfrm>
            <a:off x="203077" y="916943"/>
            <a:ext cx="1754998" cy="346249"/>
          </a:xfrm>
          <a:prstGeom prst="rect">
            <a:avLst/>
          </a:prstGeom>
          <a:noFill/>
        </p:spPr>
        <p:txBody>
          <a:bodyPr wrap="square" lIns="135000" r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서울시 행정동명과</a:t>
            </a:r>
            <a:endParaRPr lang="en-US" altLang="ko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거주 인구 수를 저장하는 모델</a:t>
            </a:r>
            <a:endParaRPr lang="en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BA20441-D22D-7EF1-BC0D-40EF352A579F}"/>
              </a:ext>
            </a:extLst>
          </p:cNvPr>
          <p:cNvSpPr/>
          <p:nvPr/>
        </p:nvSpPr>
        <p:spPr>
          <a:xfrm>
            <a:off x="203076" y="607500"/>
            <a:ext cx="1755000" cy="3407417"/>
          </a:xfrm>
          <a:prstGeom prst="rect">
            <a:avLst/>
          </a:prstGeom>
          <a:noFill/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5E9DD01-6414-3C61-4F76-AB9DFC5977F7}"/>
              </a:ext>
            </a:extLst>
          </p:cNvPr>
          <p:cNvSpPr txBox="1"/>
          <p:nvPr/>
        </p:nvSpPr>
        <p:spPr>
          <a:xfrm>
            <a:off x="2160574" y="607499"/>
            <a:ext cx="1103187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수집 목적 및 사용 방안</a:t>
            </a:r>
            <a:endParaRPr lang="en-US" altLang="ko-KR" sz="825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DE2F618-A2D2-4B24-C85B-616E8697A395}"/>
              </a:ext>
            </a:extLst>
          </p:cNvPr>
          <p:cNvSpPr txBox="1"/>
          <p:nvPr/>
        </p:nvSpPr>
        <p:spPr>
          <a:xfrm>
            <a:off x="2160573" y="2496865"/>
            <a:ext cx="4494347" cy="5544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서울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열린데이터광장에서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제공하는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서울시 상권분석서비스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영역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 행정동 식별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ID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와 그에 대응하는 한글 행정동명을 받아오고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같은 출처에서 제공하는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 단위 서울 생활인구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)’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 행정동 식별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ID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별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생활인구수를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받아옵니다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E90235C-215F-ED07-398D-CED102070F02}"/>
              </a:ext>
            </a:extLst>
          </p:cNvPr>
          <p:cNvSpPr txBox="1"/>
          <p:nvPr/>
        </p:nvSpPr>
        <p:spPr>
          <a:xfrm>
            <a:off x="2160573" y="2300656"/>
            <a:ext cx="1079142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정보 출처와 저장 절차</a:t>
            </a:r>
            <a:endParaRPr lang="en-US" altLang="ko-KR" sz="825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16FE584-5FA2-145F-5DE0-2D2CF94C18C8}"/>
              </a:ext>
            </a:extLst>
          </p:cNvPr>
          <p:cNvGrpSpPr/>
          <p:nvPr/>
        </p:nvGrpSpPr>
        <p:grpSpPr>
          <a:xfrm>
            <a:off x="306125" y="1383377"/>
            <a:ext cx="1541477" cy="764180"/>
            <a:chOff x="408167" y="1844503"/>
            <a:chExt cx="2055302" cy="1018906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35CE279-F647-EC91-5BBB-5D1B97E5C739}"/>
                </a:ext>
              </a:extLst>
            </p:cNvPr>
            <p:cNvSpPr/>
            <p:nvPr/>
          </p:nvSpPr>
          <p:spPr>
            <a:xfrm flipH="1">
              <a:off x="411469" y="1846752"/>
              <a:ext cx="2052000" cy="1016657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8E43EDB-05D1-CB58-0B1C-2C02C83FEFC4}"/>
                </a:ext>
              </a:extLst>
            </p:cNvPr>
            <p:cNvSpPr txBox="1"/>
            <p:nvPr/>
          </p:nvSpPr>
          <p:spPr>
            <a:xfrm>
              <a:off x="408168" y="1849564"/>
              <a:ext cx="1186486" cy="476690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district_id</a:t>
              </a:r>
              <a:endParaRPr 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  <a:p>
              <a:r>
                <a:rPr lang="en-KR" sz="825" b="1" dirty="0">
                  <a:solidFill>
                    <a:srgbClr val="44B29C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CharField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9816F7D-E548-DDA2-DB1D-473DB280246C}"/>
                </a:ext>
              </a:extLst>
            </p:cNvPr>
            <p:cNvSpPr txBox="1"/>
            <p:nvPr/>
          </p:nvSpPr>
          <p:spPr>
            <a:xfrm>
              <a:off x="408167" y="2357032"/>
              <a:ext cx="2055301" cy="490988"/>
            </a:xfrm>
            <a:prstGeom prst="rect">
              <a:avLst/>
            </a:prstGeom>
            <a:noFill/>
          </p:spPr>
          <p:txBody>
            <a:bodyPr wrap="square" lIns="67500" rIns="67500" bIns="67500" rtlCol="0">
              <a:spAutoFit/>
            </a:bodyPr>
            <a:lstStyle/>
            <a:p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하나의 행정동 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ID.</a:t>
              </a:r>
            </a:p>
            <a:p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최대 길이 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10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자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중복 불가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BDBB6199-3213-1A97-600F-5D7542064A73}"/>
                </a:ext>
              </a:extLst>
            </p:cNvPr>
            <p:cNvSpPr txBox="1"/>
            <p:nvPr/>
          </p:nvSpPr>
          <p:spPr>
            <a:xfrm>
              <a:off x="1457257" y="1844503"/>
              <a:ext cx="1006212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pPr algn="r"/>
              <a:r>
                <a:rPr lang="en-US" altLang="ko-KR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“11590605”</a:t>
              </a:r>
              <a:endParaRPr lang="en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83105065-44AE-069B-DCEA-69B2C0016580}"/>
              </a:ext>
            </a:extLst>
          </p:cNvPr>
          <p:cNvGrpSpPr/>
          <p:nvPr/>
        </p:nvGrpSpPr>
        <p:grpSpPr>
          <a:xfrm>
            <a:off x="306128" y="3126053"/>
            <a:ext cx="1541476" cy="762493"/>
            <a:chOff x="408168" y="3007410"/>
            <a:chExt cx="2055301" cy="1016657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D03176D8-6112-8B55-1E68-A9270A894083}"/>
                </a:ext>
              </a:extLst>
            </p:cNvPr>
            <p:cNvSpPr/>
            <p:nvPr/>
          </p:nvSpPr>
          <p:spPr>
            <a:xfrm flipH="1">
              <a:off x="411469" y="3007410"/>
              <a:ext cx="2052000" cy="1016657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7273659-5580-0AF4-3BDB-02F642316F24}"/>
                </a:ext>
              </a:extLst>
            </p:cNvPr>
            <p:cNvSpPr txBox="1"/>
            <p:nvPr/>
          </p:nvSpPr>
          <p:spPr>
            <a:xfrm>
              <a:off x="408168" y="3010222"/>
              <a:ext cx="1318394" cy="476691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population</a:t>
              </a:r>
            </a:p>
            <a:p>
              <a:r>
                <a:rPr lang="en-KR" sz="825" b="1" dirty="0">
                  <a:solidFill>
                    <a:srgbClr val="44B29C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IntegerField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7D2028F-413A-AF2D-90AE-04DB4E53413E}"/>
                </a:ext>
              </a:extLst>
            </p:cNvPr>
            <p:cNvSpPr txBox="1"/>
            <p:nvPr/>
          </p:nvSpPr>
          <p:spPr>
            <a:xfrm>
              <a:off x="411468" y="3517690"/>
              <a:ext cx="2052000" cy="490988"/>
            </a:xfrm>
            <a:prstGeom prst="rect">
              <a:avLst/>
            </a:prstGeom>
            <a:noFill/>
          </p:spPr>
          <p:txBody>
            <a:bodyPr wrap="square" lIns="67500" rIns="67500" bIns="67500" rtlCol="0">
              <a:spAutoFit/>
            </a:bodyPr>
            <a:lstStyle/>
            <a:p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하나의 행정동 총 생활 인구 수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.</a:t>
              </a:r>
            </a:p>
            <a:p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빈 값 가능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204208E3-CDCF-DE70-ECAE-4E88ED564440}"/>
                </a:ext>
              </a:extLst>
            </p:cNvPr>
            <p:cNvSpPr txBox="1"/>
            <p:nvPr/>
          </p:nvSpPr>
          <p:spPr>
            <a:xfrm>
              <a:off x="1594654" y="3013989"/>
              <a:ext cx="868813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pPr algn="r"/>
              <a:r>
                <a:rPr lang="en-US" altLang="ko-KR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33201</a:t>
              </a:r>
              <a:endParaRPr lang="en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81FCC2F1-12CB-FF56-34D8-F30A6BE2566E}"/>
              </a:ext>
            </a:extLst>
          </p:cNvPr>
          <p:cNvGrpSpPr/>
          <p:nvPr/>
        </p:nvGrpSpPr>
        <p:grpSpPr>
          <a:xfrm>
            <a:off x="306124" y="2253871"/>
            <a:ext cx="1541477" cy="764180"/>
            <a:chOff x="408167" y="1844503"/>
            <a:chExt cx="2055302" cy="1018906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AC7480DB-3C56-EADD-3470-20720274629F}"/>
                </a:ext>
              </a:extLst>
            </p:cNvPr>
            <p:cNvSpPr/>
            <p:nvPr/>
          </p:nvSpPr>
          <p:spPr>
            <a:xfrm flipH="1">
              <a:off x="411469" y="1846752"/>
              <a:ext cx="2052000" cy="1016657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77060861-5E3B-23FA-B62F-DDCADCAF8B6E}"/>
                </a:ext>
              </a:extLst>
            </p:cNvPr>
            <p:cNvSpPr txBox="1"/>
            <p:nvPr/>
          </p:nvSpPr>
          <p:spPr>
            <a:xfrm>
              <a:off x="408168" y="1849564"/>
              <a:ext cx="1049089" cy="476690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name</a:t>
              </a:r>
            </a:p>
            <a:p>
              <a:r>
                <a:rPr lang="en-KR" sz="825" b="1" dirty="0">
                  <a:solidFill>
                    <a:srgbClr val="44B29C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CharField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CA07D5C8-C1F1-9130-6DA3-3E1DF486FAFE}"/>
                </a:ext>
              </a:extLst>
            </p:cNvPr>
            <p:cNvSpPr txBox="1"/>
            <p:nvPr/>
          </p:nvSpPr>
          <p:spPr>
            <a:xfrm>
              <a:off x="408167" y="2357032"/>
              <a:ext cx="2055301" cy="490988"/>
            </a:xfrm>
            <a:prstGeom prst="rect">
              <a:avLst/>
            </a:prstGeom>
            <a:noFill/>
          </p:spPr>
          <p:txBody>
            <a:bodyPr wrap="square" lIns="67500" rIns="67500" bIns="67500" rtlCol="0">
              <a:spAutoFit/>
            </a:bodyPr>
            <a:lstStyle/>
            <a:p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하나의 행정동 이름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.</a:t>
              </a:r>
            </a:p>
            <a:p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최대 길이 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100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자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중복 불가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7618843F-1A2A-99A8-69F2-E1CAC72CA659}"/>
                </a:ext>
              </a:extLst>
            </p:cNvPr>
            <p:cNvSpPr txBox="1"/>
            <p:nvPr/>
          </p:nvSpPr>
          <p:spPr>
            <a:xfrm>
              <a:off x="1594655" y="1844503"/>
              <a:ext cx="868813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pPr algn="r"/>
              <a:r>
                <a:rPr lang="en-US" altLang="ko-KR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“</a:t>
              </a:r>
              <a:r>
                <a:rPr lang="ko-KR" altLang="en-US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흑석동</a:t>
              </a:r>
              <a:r>
                <a:rPr lang="en-US" altLang="ko-KR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”</a:t>
              </a:r>
              <a:endParaRPr lang="en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85FFFE18-177A-BBDF-2184-77195B1B858F}"/>
              </a:ext>
            </a:extLst>
          </p:cNvPr>
          <p:cNvSpPr txBox="1"/>
          <p:nvPr/>
        </p:nvSpPr>
        <p:spPr>
          <a:xfrm>
            <a:off x="2160573" y="3028165"/>
            <a:ext cx="4494347" cy="19827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en-US" altLang="ko-KR" sz="825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fetch_hangjeongdong_data.py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요청과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DB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저장을 관리합니다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 단위 서울 생활인구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에서는 식별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ID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와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생활인구수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관련 데이터만 제공하기 때문에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부득이 두 가지의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요청 결과를 조합하여 사용하는 형태로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DB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저장하는 구조를 취하게 되었습니다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우선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서울시 상권분석서비스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영역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-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 현재 존재하는 행정동의 식별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ID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와 그에 대응하는 한글명을 받아옵니다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그런 다음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 단위 서울 생활인구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내국인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에서 행정동의 식별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ID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별 평균 인구수를 받아옵니다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해당 데이터는 매일 최신화가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명세되어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있지만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조회 시간에 따라 해당 날짜의 최신 데이터가 아직 올라오지 않는 경우가 있었습니다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그래서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현재 날짜로부터 과거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일간의 데이터 존재 여부를 확인하고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데이터가 있는 가장 최근 날짜의 정보를 받아옵니다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해당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에서는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24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 시간별로 인구 수 데이터를 개별적으로 제공하기 때문에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취합을 위해 하루 간의 평균 인구수를 계산하여 최종적으로 해당 데이터를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DB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저장하게 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24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×  400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여 곳의 행정동 정보를 받아오기 때문에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만 건이 넘는 자료의 요청을 보내야 하지만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서울시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에서는 한 번에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1,000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 까지의 요청만 접수하였습니다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그래서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자체적으로 제공해 주는 전체 데이터 개수를 파악한 후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페이지네이션을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통해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1,000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건씩 나누어 요청을 보내는 식으로 처리하였습니다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F6E09DA-8F5A-FE46-0B0D-3E58450E9F0D}"/>
              </a:ext>
            </a:extLst>
          </p:cNvPr>
          <p:cNvSpPr txBox="1"/>
          <p:nvPr/>
        </p:nvSpPr>
        <p:spPr>
          <a:xfrm>
            <a:off x="2160573" y="1505245"/>
            <a:ext cx="4494347" cy="5418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ko-KR" sz="67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district_id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행정동별 데이터의 구분을 위한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ID</a:t>
            </a:r>
            <a:r>
              <a:rPr lang="ko-KR" altLang="en-US" sz="67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담은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en-US" altLang="ko-KR" sz="67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name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사용자에게 데이터를 출력할 때를 고려하여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행정동별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ID</a:t>
            </a:r>
            <a:r>
              <a:rPr lang="ko-KR" altLang="en-US" sz="67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따른 행정동 한글명을 담은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en-US" altLang="ko-KR" sz="67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population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인구 수에 대비한 분석을 위해 모으는 인구 수를 담은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CB6B929E-66DD-BD5C-7B90-119BF7730271}"/>
              </a:ext>
            </a:extLst>
          </p:cNvPr>
          <p:cNvCxnSpPr>
            <a:cxnSpLocks/>
          </p:cNvCxnSpPr>
          <p:nvPr/>
        </p:nvCxnSpPr>
        <p:spPr>
          <a:xfrm>
            <a:off x="2218767" y="2165766"/>
            <a:ext cx="4436738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B34A49A7-C67F-6506-2E69-ECCB4488EFDA}"/>
              </a:ext>
            </a:extLst>
          </p:cNvPr>
          <p:cNvCxnSpPr>
            <a:cxnSpLocks/>
          </p:cNvCxnSpPr>
          <p:nvPr/>
        </p:nvCxnSpPr>
        <p:spPr>
          <a:xfrm>
            <a:off x="0" y="405000"/>
            <a:ext cx="6858000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8550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45DD2-B263-6EA6-8297-A85FF038D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B65EC6D-DFBF-55BB-80E6-534C7212BE0D}"/>
              </a:ext>
            </a:extLst>
          </p:cNvPr>
          <p:cNvSpPr>
            <a:spLocks/>
          </p:cNvSpPr>
          <p:nvPr/>
        </p:nvSpPr>
        <p:spPr>
          <a:xfrm>
            <a:off x="0" y="0"/>
            <a:ext cx="3429000" cy="405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5000" tIns="35100" rIns="67500" bIns="67500" numCol="1" rtlCol="0" anchor="b"/>
          <a:lstStyle/>
          <a:p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./main/</a:t>
            </a:r>
            <a:r>
              <a:rPr lang="en-US" altLang="ko-KR" sz="9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models.py</a:t>
            </a:r>
            <a:r>
              <a:rPr lang="ko-KR" alt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&gt;</a:t>
            </a:r>
            <a:r>
              <a:rPr lang="ko-KR" alt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9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BusStop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FC32CB-163B-F8ED-5A47-E212F3ED635D}"/>
              </a:ext>
            </a:extLst>
          </p:cNvPr>
          <p:cNvSpPr>
            <a:spLocks/>
          </p:cNvSpPr>
          <p:nvPr/>
        </p:nvSpPr>
        <p:spPr>
          <a:xfrm>
            <a:off x="3429000" y="0"/>
            <a:ext cx="3429000" cy="405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7500" tIns="35100" rIns="135000" bIns="67500" numCol="1" rtlCol="0" anchor="b"/>
          <a:lstStyle/>
          <a:p>
            <a:pPr algn="r"/>
            <a:r>
              <a:rPr lang="en-US" altLang="ko-KR" sz="900" b="1" dirty="0" err="1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seoulbusmap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프로젝트에 사용될 데이터 구조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모델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을 정의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5182BFF-0338-28E7-5B74-E324A80F0364}"/>
              </a:ext>
            </a:extLst>
          </p:cNvPr>
          <p:cNvSpPr/>
          <p:nvPr/>
        </p:nvSpPr>
        <p:spPr>
          <a:xfrm>
            <a:off x="203078" y="607501"/>
            <a:ext cx="1752295" cy="601038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44CD3D4-0AC2-9CFE-1C9E-09F65205809C}"/>
              </a:ext>
            </a:extLst>
          </p:cNvPr>
          <p:cNvSpPr/>
          <p:nvPr/>
        </p:nvSpPr>
        <p:spPr>
          <a:xfrm>
            <a:off x="203077" y="607500"/>
            <a:ext cx="1752296" cy="710066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3E95A37-D73B-AF75-4508-172B9D440F6B}"/>
              </a:ext>
            </a:extLst>
          </p:cNvPr>
          <p:cNvSpPr txBox="1"/>
          <p:nvPr/>
        </p:nvSpPr>
        <p:spPr>
          <a:xfrm>
            <a:off x="203075" y="607500"/>
            <a:ext cx="1754997" cy="298719"/>
          </a:xfrm>
          <a:prstGeom prst="rect">
            <a:avLst/>
          </a:prstGeom>
          <a:noFill/>
        </p:spPr>
        <p:txBody>
          <a:bodyPr wrap="square" lIns="135000" tIns="135000" rIns="67500" bIns="35100" rtlCol="0">
            <a:spAutoFit/>
          </a:bodyPr>
          <a:lstStyle/>
          <a:p>
            <a:r>
              <a:rPr lang="en-US" sz="82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BusStop</a:t>
            </a:r>
            <a:endParaRPr lang="en-KR" sz="825" b="1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3BB6283-CD80-FA48-CC3B-183DD88FE09A}"/>
              </a:ext>
            </a:extLst>
          </p:cNvPr>
          <p:cNvSpPr txBox="1"/>
          <p:nvPr/>
        </p:nvSpPr>
        <p:spPr>
          <a:xfrm>
            <a:off x="203077" y="916943"/>
            <a:ext cx="1752295" cy="346249"/>
          </a:xfrm>
          <a:prstGeom prst="rect">
            <a:avLst/>
          </a:prstGeom>
          <a:noFill/>
        </p:spPr>
        <p:txBody>
          <a:bodyPr wrap="square" lIns="135000" r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버스 정류장의 기본 정보를 저장하는 모델</a:t>
            </a:r>
            <a:endParaRPr lang="en-US" altLang="ko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A17A312-0E2C-F245-ECF0-2257854FB5F0}"/>
              </a:ext>
            </a:extLst>
          </p:cNvPr>
          <p:cNvSpPr/>
          <p:nvPr/>
        </p:nvSpPr>
        <p:spPr>
          <a:xfrm flipH="1">
            <a:off x="308601" y="1385065"/>
            <a:ext cx="1536300" cy="761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8F5E0ED-1FAA-D6E8-F1D0-6968387C510E}"/>
              </a:ext>
            </a:extLst>
          </p:cNvPr>
          <p:cNvSpPr/>
          <p:nvPr/>
        </p:nvSpPr>
        <p:spPr>
          <a:xfrm>
            <a:off x="203076" y="607501"/>
            <a:ext cx="1752296" cy="6010388"/>
          </a:xfrm>
          <a:prstGeom prst="rect">
            <a:avLst/>
          </a:prstGeom>
          <a:noFill/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F2AA170-A100-DEEE-FA53-E38CE3B55D53}"/>
              </a:ext>
            </a:extLst>
          </p:cNvPr>
          <p:cNvSpPr txBox="1"/>
          <p:nvPr/>
        </p:nvSpPr>
        <p:spPr>
          <a:xfrm>
            <a:off x="306127" y="1387173"/>
            <a:ext cx="786817" cy="357518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r>
              <a:rPr lang="en-US" sz="82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busstop_id</a:t>
            </a:r>
            <a:endParaRPr lang="en-US" sz="825" b="1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  <a:p>
            <a:r>
              <a:rPr lang="en-KR" sz="825" b="1" dirty="0">
                <a:solidFill>
                  <a:srgbClr val="44B29C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CharField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4DA177D-E2C0-CA5A-98A3-F3E2D43EFD39}"/>
              </a:ext>
            </a:extLst>
          </p:cNvPr>
          <p:cNvSpPr txBox="1"/>
          <p:nvPr/>
        </p:nvSpPr>
        <p:spPr>
          <a:xfrm>
            <a:off x="306126" y="1767774"/>
            <a:ext cx="1541476" cy="368241"/>
          </a:xfrm>
          <a:prstGeom prst="rect">
            <a:avLst/>
          </a:prstGeom>
          <a:noFill/>
        </p:spPr>
        <p:txBody>
          <a:bodyPr wrap="square" lIns="67500" rIns="67500" b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하나의 정류장 고유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ID.</a:t>
            </a:r>
          </a:p>
          <a:p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길이 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중복 불가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2A79D3A-54D7-B58D-8622-0205C49CA9E4}"/>
              </a:ext>
            </a:extLst>
          </p:cNvPr>
          <p:cNvSpPr/>
          <p:nvPr/>
        </p:nvSpPr>
        <p:spPr>
          <a:xfrm flipH="1">
            <a:off x="308601" y="2250610"/>
            <a:ext cx="1539000" cy="761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11B2B51-EC34-7204-1E52-DB43F21DDB11}"/>
              </a:ext>
            </a:extLst>
          </p:cNvPr>
          <p:cNvSpPr txBox="1"/>
          <p:nvPr/>
        </p:nvSpPr>
        <p:spPr>
          <a:xfrm>
            <a:off x="306125" y="2252718"/>
            <a:ext cx="988796" cy="357518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r>
              <a:rPr 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name</a:t>
            </a:r>
          </a:p>
          <a:p>
            <a:r>
              <a:rPr lang="en-KR" sz="825" b="1" dirty="0">
                <a:solidFill>
                  <a:srgbClr val="44B29C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CharField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7B7B3F8-144E-9D25-4A8D-B077687E4630}"/>
              </a:ext>
            </a:extLst>
          </p:cNvPr>
          <p:cNvSpPr txBox="1"/>
          <p:nvPr/>
        </p:nvSpPr>
        <p:spPr>
          <a:xfrm>
            <a:off x="308600" y="2633319"/>
            <a:ext cx="1539000" cy="368241"/>
          </a:xfrm>
          <a:prstGeom prst="rect">
            <a:avLst/>
          </a:prstGeom>
          <a:noFill/>
        </p:spPr>
        <p:txBody>
          <a:bodyPr wrap="square" lIns="67500" rIns="67500" b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하나의 정류장 고유의 이름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길이 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100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2D44AA-8271-4A9D-AC62-FD336F8C95FC}"/>
              </a:ext>
            </a:extLst>
          </p:cNvPr>
          <p:cNvSpPr/>
          <p:nvPr/>
        </p:nvSpPr>
        <p:spPr>
          <a:xfrm flipH="1">
            <a:off x="306125" y="3125104"/>
            <a:ext cx="1539000" cy="761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0E13BC-EE5F-B791-0F87-B059DC0BBB8F}"/>
              </a:ext>
            </a:extLst>
          </p:cNvPr>
          <p:cNvSpPr txBox="1"/>
          <p:nvPr/>
        </p:nvSpPr>
        <p:spPr>
          <a:xfrm>
            <a:off x="303649" y="3127212"/>
            <a:ext cx="988796" cy="357518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r>
              <a:rPr 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longitude</a:t>
            </a:r>
          </a:p>
          <a:p>
            <a:r>
              <a:rPr lang="en-KR" sz="825" b="1" dirty="0">
                <a:solidFill>
                  <a:srgbClr val="44B29C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DecimalField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60EE828-0F70-1C29-FD05-C9C4EB0EA3C1}"/>
              </a:ext>
            </a:extLst>
          </p:cNvPr>
          <p:cNvSpPr txBox="1"/>
          <p:nvPr/>
        </p:nvSpPr>
        <p:spPr>
          <a:xfrm>
            <a:off x="306124" y="3507813"/>
            <a:ext cx="1539000" cy="368241"/>
          </a:xfrm>
          <a:prstGeom prst="rect">
            <a:avLst/>
          </a:prstGeom>
          <a:noFill/>
        </p:spPr>
        <p:txBody>
          <a:bodyPr wrap="square" lIns="67500" rIns="67500" b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하나의 정류장의 지도상 경도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길이 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 중 소수점 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588208-1E11-AF1A-807C-340920E0D34A}"/>
              </a:ext>
            </a:extLst>
          </p:cNvPr>
          <p:cNvSpPr/>
          <p:nvPr/>
        </p:nvSpPr>
        <p:spPr>
          <a:xfrm flipH="1">
            <a:off x="308600" y="3998172"/>
            <a:ext cx="1539000" cy="761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D6E9B90-3E83-F3EF-9525-DD86F1B2CF87}"/>
              </a:ext>
            </a:extLst>
          </p:cNvPr>
          <p:cNvSpPr txBox="1"/>
          <p:nvPr/>
        </p:nvSpPr>
        <p:spPr>
          <a:xfrm>
            <a:off x="306124" y="4000280"/>
            <a:ext cx="988796" cy="357518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r>
              <a:rPr 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latitude</a:t>
            </a:r>
          </a:p>
          <a:p>
            <a:r>
              <a:rPr lang="en-KR" sz="825" b="1" dirty="0">
                <a:solidFill>
                  <a:srgbClr val="44B29C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DecimalField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551FC8-116B-A646-0D1A-B00E6C70F888}"/>
              </a:ext>
            </a:extLst>
          </p:cNvPr>
          <p:cNvSpPr txBox="1"/>
          <p:nvPr/>
        </p:nvSpPr>
        <p:spPr>
          <a:xfrm>
            <a:off x="308600" y="4380882"/>
            <a:ext cx="1539000" cy="368241"/>
          </a:xfrm>
          <a:prstGeom prst="rect">
            <a:avLst/>
          </a:prstGeom>
          <a:noFill/>
        </p:spPr>
        <p:txBody>
          <a:bodyPr wrap="square" lIns="67500" rIns="67500" b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하나의 정류장의 지도상 위도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길이 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10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 중 소수점 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7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7DE3E92-FBF2-F829-B3EC-B90FFC0B4F27}"/>
              </a:ext>
            </a:extLst>
          </p:cNvPr>
          <p:cNvGrpSpPr/>
          <p:nvPr/>
        </p:nvGrpSpPr>
        <p:grpSpPr>
          <a:xfrm>
            <a:off x="303424" y="4868956"/>
            <a:ext cx="1541477" cy="763088"/>
            <a:chOff x="408167" y="1844503"/>
            <a:chExt cx="2055302" cy="1017450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4AF4593-BE2D-945D-EFD3-C5FD378CE935}"/>
                </a:ext>
              </a:extLst>
            </p:cNvPr>
            <p:cNvSpPr/>
            <p:nvPr/>
          </p:nvSpPr>
          <p:spPr>
            <a:xfrm flipH="1">
              <a:off x="411469" y="1846753"/>
              <a:ext cx="2048400" cy="1015200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3AE1420E-819E-1F62-43A0-7F458379970C}"/>
                </a:ext>
              </a:extLst>
            </p:cNvPr>
            <p:cNvSpPr txBox="1"/>
            <p:nvPr/>
          </p:nvSpPr>
          <p:spPr>
            <a:xfrm>
              <a:off x="408168" y="1849564"/>
              <a:ext cx="1186486" cy="476690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district_id</a:t>
              </a:r>
              <a:endParaRPr 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  <a:p>
              <a:r>
                <a:rPr lang="en-KR" sz="825" b="1" dirty="0">
                  <a:solidFill>
                    <a:srgbClr val="44B29C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CharField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50CC025-93DB-78FB-6845-D80BA66B22EF}"/>
                </a:ext>
              </a:extLst>
            </p:cNvPr>
            <p:cNvSpPr txBox="1"/>
            <p:nvPr/>
          </p:nvSpPr>
          <p:spPr>
            <a:xfrm>
              <a:off x="408167" y="2357032"/>
              <a:ext cx="2055301" cy="490988"/>
            </a:xfrm>
            <a:prstGeom prst="rect">
              <a:avLst/>
            </a:prstGeom>
            <a:noFill/>
          </p:spPr>
          <p:txBody>
            <a:bodyPr wrap="square" lIns="67500" rIns="67500" bIns="67500" rtlCol="0">
              <a:spAutoFit/>
            </a:bodyPr>
            <a:lstStyle/>
            <a:p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정류장이 속한 행정동 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ID.</a:t>
              </a:r>
            </a:p>
            <a:p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최대 길이 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10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자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빈 값 가능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6A180C4-A911-88F4-E39C-C68D223F626C}"/>
                </a:ext>
              </a:extLst>
            </p:cNvPr>
            <p:cNvSpPr txBox="1"/>
            <p:nvPr/>
          </p:nvSpPr>
          <p:spPr>
            <a:xfrm>
              <a:off x="1437159" y="1844503"/>
              <a:ext cx="1026310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pPr algn="r"/>
              <a:r>
                <a:rPr lang="en-US" altLang="ko-KR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“11590605”</a:t>
              </a:r>
              <a:endParaRPr lang="en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37052294-BC63-E6CC-5752-A78AA615D3AE}"/>
              </a:ext>
            </a:extLst>
          </p:cNvPr>
          <p:cNvSpPr txBox="1"/>
          <p:nvPr/>
        </p:nvSpPr>
        <p:spPr>
          <a:xfrm>
            <a:off x="1058309" y="1383379"/>
            <a:ext cx="786817" cy="230560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pPr algn="r"/>
            <a:r>
              <a:rPr lang="en-US" altLang="ko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“119900101”</a:t>
            </a:r>
            <a:endParaRPr lang="en-KR" sz="825" b="1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E721EB9-5EB3-18F6-8AEE-0A79EB8974E3}"/>
              </a:ext>
            </a:extLst>
          </p:cNvPr>
          <p:cNvSpPr txBox="1"/>
          <p:nvPr/>
        </p:nvSpPr>
        <p:spPr>
          <a:xfrm>
            <a:off x="856330" y="2250610"/>
            <a:ext cx="988795" cy="230560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pPr algn="r"/>
            <a:r>
              <a:rPr lang="en-US" altLang="ko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“</a:t>
            </a:r>
            <a:r>
              <a:rPr lang="ko-KR" altLang="en-US" sz="825" b="1" dirty="0" err="1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중앙대정문</a:t>
            </a:r>
            <a:r>
              <a:rPr lang="en-US" altLang="ko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”</a:t>
            </a:r>
            <a:endParaRPr lang="en-KR" sz="825" b="1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77688EF-9FB8-F2BE-DF06-C3E3F689B198}"/>
              </a:ext>
            </a:extLst>
          </p:cNvPr>
          <p:cNvSpPr txBox="1"/>
          <p:nvPr/>
        </p:nvSpPr>
        <p:spPr>
          <a:xfrm>
            <a:off x="856330" y="3124501"/>
            <a:ext cx="988795" cy="230560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pPr algn="r"/>
            <a:r>
              <a:rPr lang="en-US" altLang="ko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126.9582940</a:t>
            </a:r>
            <a:endParaRPr lang="en-KR" sz="825" b="1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33BC1B4-C54F-8099-9892-5841853F0323}"/>
              </a:ext>
            </a:extLst>
          </p:cNvPr>
          <p:cNvSpPr txBox="1"/>
          <p:nvPr/>
        </p:nvSpPr>
        <p:spPr>
          <a:xfrm>
            <a:off x="861283" y="3996967"/>
            <a:ext cx="988795" cy="230560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pPr algn="r"/>
            <a:r>
              <a:rPr lang="en-US" altLang="ko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37.5068110</a:t>
            </a:r>
            <a:endParaRPr lang="en-KR" sz="825" b="1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54" name="Group 53">
            <a:extLst>
              <a:ext uri="{FF2B5EF4-FFF2-40B4-BE49-F238E27FC236}">
                <a16:creationId xmlns:a16="http://schemas.microsoft.com/office/drawing/2014/main" id="{5BD9DE61-FB55-BA0A-0B63-39C77BC2393E}"/>
              </a:ext>
            </a:extLst>
          </p:cNvPr>
          <p:cNvGrpSpPr/>
          <p:nvPr/>
        </p:nvGrpSpPr>
        <p:grpSpPr>
          <a:xfrm>
            <a:off x="303424" y="5734501"/>
            <a:ext cx="1541477" cy="763086"/>
            <a:chOff x="408167" y="1844503"/>
            <a:chExt cx="2055302" cy="1017448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564F2EEF-6F21-6DF7-54AE-C451ECC6BF2D}"/>
                </a:ext>
              </a:extLst>
            </p:cNvPr>
            <p:cNvSpPr/>
            <p:nvPr/>
          </p:nvSpPr>
          <p:spPr>
            <a:xfrm flipH="1">
              <a:off x="411469" y="1846752"/>
              <a:ext cx="2052000" cy="1015199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5F1DD9B1-CDEB-ABD8-5921-D62FC87D2169}"/>
                </a:ext>
              </a:extLst>
            </p:cNvPr>
            <p:cNvSpPr txBox="1"/>
            <p:nvPr/>
          </p:nvSpPr>
          <p:spPr>
            <a:xfrm>
              <a:off x="408168" y="1849564"/>
              <a:ext cx="1186486" cy="476691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is_active</a:t>
              </a:r>
              <a:endParaRPr 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  <a:p>
              <a:r>
                <a:rPr lang="en-KR" sz="825" b="1" dirty="0">
                  <a:solidFill>
                    <a:srgbClr val="44B29C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BooleanField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095607F-450F-CB80-025E-008ADD6AF4CC}"/>
                </a:ext>
              </a:extLst>
            </p:cNvPr>
            <p:cNvSpPr txBox="1"/>
            <p:nvPr/>
          </p:nvSpPr>
          <p:spPr>
            <a:xfrm>
              <a:off x="408167" y="2357032"/>
              <a:ext cx="2055301" cy="490988"/>
            </a:xfrm>
            <a:prstGeom prst="rect">
              <a:avLst/>
            </a:prstGeom>
            <a:noFill/>
          </p:spPr>
          <p:txBody>
            <a:bodyPr wrap="square" lIns="67500" rIns="67500" bIns="67500" rtlCol="0">
              <a:spAutoFit/>
            </a:bodyPr>
            <a:lstStyle/>
            <a:p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정류장의 활성화 여부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.</a:t>
              </a:r>
            </a:p>
            <a:p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최대 길이 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10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자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,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 빈 값 가능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5B1F2B9A-DCC8-3843-0DF7-1CE09AB05A0E}"/>
                </a:ext>
              </a:extLst>
            </p:cNvPr>
            <p:cNvSpPr txBox="1"/>
            <p:nvPr/>
          </p:nvSpPr>
          <p:spPr>
            <a:xfrm>
              <a:off x="1594655" y="1844503"/>
              <a:ext cx="868813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pPr algn="r"/>
              <a:r>
                <a:rPr lang="en-US" altLang="ko-KR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True</a:t>
              </a:r>
              <a:endParaRPr lang="en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0B37C69D-D3B2-93B0-25CB-4D1F06F4DDE5}"/>
              </a:ext>
            </a:extLst>
          </p:cNvPr>
          <p:cNvSpPr txBox="1"/>
          <p:nvPr/>
        </p:nvSpPr>
        <p:spPr>
          <a:xfrm>
            <a:off x="2157874" y="815251"/>
            <a:ext cx="4497051" cy="5544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어느 버스 정류장이 어디 위치해 있는지를 받아오는 데이터입니다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행정동별 인구 수와 마찬가지로 자주 큰 폭으로 바뀌는 데이터는 아니지만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교통 정책의 변화에 따라 비교적 넓은 간격의 주기로 최신화해 줄 필요가 있는 데이터입니다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AC63A2A-7155-E08A-8C39-4D98F29484F2}"/>
              </a:ext>
            </a:extLst>
          </p:cNvPr>
          <p:cNvSpPr txBox="1"/>
          <p:nvPr/>
        </p:nvSpPr>
        <p:spPr>
          <a:xfrm>
            <a:off x="2157874" y="607499"/>
            <a:ext cx="1103187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수집 목적 및 사용 방안</a:t>
            </a:r>
            <a:endParaRPr lang="en-US" altLang="ko-KR" sz="825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6CC2A55-3325-686F-19CC-637107DADD38}"/>
              </a:ext>
            </a:extLst>
          </p:cNvPr>
          <p:cNvSpPr txBox="1"/>
          <p:nvPr/>
        </p:nvSpPr>
        <p:spPr>
          <a:xfrm>
            <a:off x="2157873" y="2896892"/>
            <a:ext cx="4497051" cy="7131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서울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열린데이터광장에서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제공하는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서울시 버스정류소 위치정보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 정류장 고유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ID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와 그에 대응하는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한글명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지도상 위치를 받아옵니다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카카오에서 제공하는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카카오맵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로컬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REST API’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활용하여 버스 정류장이 위치한 좌표가 어느 행정동에 속하여 있는지를 받아옵니다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서울시에서 네이티브로 제공하는 정류장 마스터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에는 좌표만 포함되며 정류장이 위치한 한글 주소는 직접 찾아야 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.)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5F79019-0040-51CA-3ABC-17947975EF36}"/>
              </a:ext>
            </a:extLst>
          </p:cNvPr>
          <p:cNvSpPr txBox="1"/>
          <p:nvPr/>
        </p:nvSpPr>
        <p:spPr>
          <a:xfrm>
            <a:off x="2157874" y="2700684"/>
            <a:ext cx="1079142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정보 출처와 저장 절차</a:t>
            </a:r>
            <a:endParaRPr lang="en-US" altLang="ko-KR" sz="825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BB3F7FC-F2D6-FFB4-2C43-646A6E02FB62}"/>
              </a:ext>
            </a:extLst>
          </p:cNvPr>
          <p:cNvSpPr txBox="1"/>
          <p:nvPr/>
        </p:nvSpPr>
        <p:spPr>
          <a:xfrm>
            <a:off x="2157873" y="3610036"/>
            <a:ext cx="4497051" cy="1665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en-US" altLang="ko-KR" sz="825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fetch_busstop_data.py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요청과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DB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저장을 관리합니다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행정동별 인구 수와 마찬가지로 만 개가 넘는 정류장의 데이터를 받아와야 하지만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한 번에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1,000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 까지의 제한이 있기에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마찬가지로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페이지네이션을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활용하여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1,000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건씩 나누어 요청을 보냅니다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교통 정책에 따라 생겼다 사라질 수도 있는 버스 정류장이기에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정류장이 사용되고 있는지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아닌지 상태를 별도로 추적합니다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사용되고 있지 않은 상태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폐지된 정류장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이라도 과거 데이터를 열람하여 시간에 따른 추이를 확인할 수 있게 하고자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en-US" altLang="ko-KR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is_active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데이터로 정류장 활성 여부를 추적하여 데이터를 삭제하지 않고 보존합니다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또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서울시 공공데이터에서는 기본적으로 특정한 버스 정류장이 위치한 지도상의 좌표만 제공하고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주소나 소속된 행정동 정보는 별도로 제공하지 않기에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제공되는 좌표를 통해 이 정류장이 어느 행정동에 위치하여 있는지를 확인하는 과정을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카카오맵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로컬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REST API’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 제공하는 좌표의 행정동 주소로의 변환 서비스를 거쳐 최종 데이터를 수집하게 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430B3F9-36F2-DFB8-5487-CA84C231120B}"/>
              </a:ext>
            </a:extLst>
          </p:cNvPr>
          <p:cNvSpPr txBox="1"/>
          <p:nvPr/>
        </p:nvSpPr>
        <p:spPr>
          <a:xfrm>
            <a:off x="2157874" y="1369698"/>
            <a:ext cx="4497051" cy="10092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ko-KR" sz="67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busstop_id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버스 정류장별 데이터의 구분을 위한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ID</a:t>
            </a:r>
            <a:r>
              <a:rPr lang="ko-KR" altLang="en-US" sz="67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담은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en-US" altLang="ko-KR" sz="67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name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사용자에게 데이터를 출력해야 할 때를 고려하여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버스 정류별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ID</a:t>
            </a:r>
            <a:r>
              <a:rPr lang="ko-KR" altLang="en-US" sz="67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따른 정류장의 한글명을 담은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en-US" altLang="ko-KR" sz="67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longitude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지도상 위치와 소속 행정동을 찾기 위한 경도 좌표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en-US" altLang="ko-KR" sz="67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latitude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지도상 위치와 소속 행정동을 찾기 위한 위도 좌표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endParaRPr lang="en-US" altLang="ko-KR" sz="675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  <a:p>
            <a:pPr algn="just">
              <a:lnSpc>
                <a:spcPct val="150000"/>
              </a:lnSpc>
            </a:pPr>
            <a:r>
              <a:rPr lang="en-US" altLang="ko-KR" sz="67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district_id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소속 행정동별 데이터의 구분을 위한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ID</a:t>
            </a:r>
            <a:r>
              <a:rPr lang="ko-KR" altLang="en-US" sz="67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담은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en-US" altLang="ko-KR" sz="67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is_active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현재 사용되고 있는 정류장인지 여부를 구분하는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3F2E7474-7999-49D5-4FE1-D368D8C6C0A9}"/>
              </a:ext>
            </a:extLst>
          </p:cNvPr>
          <p:cNvCxnSpPr>
            <a:cxnSpLocks/>
          </p:cNvCxnSpPr>
          <p:nvPr/>
        </p:nvCxnSpPr>
        <p:spPr>
          <a:xfrm>
            <a:off x="0" y="405000"/>
            <a:ext cx="6858000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8F53786E-5742-B588-C136-F08F8CD2F469}"/>
              </a:ext>
            </a:extLst>
          </p:cNvPr>
          <p:cNvCxnSpPr>
            <a:cxnSpLocks/>
          </p:cNvCxnSpPr>
          <p:nvPr/>
        </p:nvCxnSpPr>
        <p:spPr>
          <a:xfrm>
            <a:off x="2218767" y="2513336"/>
            <a:ext cx="4436738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2757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62BA6-8E79-1605-6871-6DC31FA6C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A9751C1-6E6C-1CB0-8C99-D73DE207B797}"/>
              </a:ext>
            </a:extLst>
          </p:cNvPr>
          <p:cNvSpPr>
            <a:spLocks/>
          </p:cNvSpPr>
          <p:nvPr/>
        </p:nvSpPr>
        <p:spPr>
          <a:xfrm>
            <a:off x="0" y="0"/>
            <a:ext cx="3429000" cy="405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5000" tIns="35100" rIns="67500" bIns="67500" numCol="1" rtlCol="0" anchor="b"/>
          <a:lstStyle/>
          <a:p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./main/</a:t>
            </a:r>
            <a:r>
              <a:rPr lang="en-US" altLang="ko-KR" sz="9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models.py</a:t>
            </a:r>
            <a:r>
              <a:rPr lang="ko-KR" alt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&gt;</a:t>
            </a:r>
            <a:r>
              <a:rPr lang="ko-KR" alt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9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BusData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52740F-5190-4834-EAEB-5838DFE5AC7D}"/>
              </a:ext>
            </a:extLst>
          </p:cNvPr>
          <p:cNvSpPr>
            <a:spLocks/>
          </p:cNvSpPr>
          <p:nvPr/>
        </p:nvSpPr>
        <p:spPr>
          <a:xfrm>
            <a:off x="3429000" y="0"/>
            <a:ext cx="3429000" cy="405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7500" tIns="35100" rIns="135000" bIns="67500" numCol="1" rtlCol="0" anchor="b"/>
          <a:lstStyle/>
          <a:p>
            <a:pPr algn="r"/>
            <a:r>
              <a:rPr lang="en-US" altLang="ko-KR" sz="900" b="1" dirty="0" err="1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seoulbusmap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프로젝트에 사용될 데이터 구조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모델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을 정의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AC204ED-C662-FDA9-B202-234225142759}"/>
              </a:ext>
            </a:extLst>
          </p:cNvPr>
          <p:cNvSpPr/>
          <p:nvPr/>
        </p:nvSpPr>
        <p:spPr>
          <a:xfrm>
            <a:off x="203078" y="607501"/>
            <a:ext cx="1752295" cy="514606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8C3E396-0C1F-DAEB-B085-4525FCE7795E}"/>
              </a:ext>
            </a:extLst>
          </p:cNvPr>
          <p:cNvSpPr/>
          <p:nvPr/>
        </p:nvSpPr>
        <p:spPr>
          <a:xfrm>
            <a:off x="203077" y="607500"/>
            <a:ext cx="1752296" cy="710066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C19AE78-5D04-1A2C-7EA9-81E0DE189854}"/>
              </a:ext>
            </a:extLst>
          </p:cNvPr>
          <p:cNvSpPr txBox="1"/>
          <p:nvPr/>
        </p:nvSpPr>
        <p:spPr>
          <a:xfrm>
            <a:off x="203075" y="607500"/>
            <a:ext cx="1754997" cy="298719"/>
          </a:xfrm>
          <a:prstGeom prst="rect">
            <a:avLst/>
          </a:prstGeom>
          <a:noFill/>
        </p:spPr>
        <p:txBody>
          <a:bodyPr wrap="square" lIns="135000" tIns="135000" rIns="67500" bIns="35100" rtlCol="0">
            <a:spAutoFit/>
          </a:bodyPr>
          <a:lstStyle/>
          <a:p>
            <a:r>
              <a:rPr lang="en-US" sz="82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BusData</a:t>
            </a:r>
            <a:endParaRPr lang="en-KR" sz="825" b="1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4311BF7-2C6D-1779-E16C-0934D704B2A6}"/>
              </a:ext>
            </a:extLst>
          </p:cNvPr>
          <p:cNvSpPr txBox="1"/>
          <p:nvPr/>
        </p:nvSpPr>
        <p:spPr>
          <a:xfrm>
            <a:off x="203077" y="916943"/>
            <a:ext cx="1752295" cy="346249"/>
          </a:xfrm>
          <a:prstGeom prst="rect">
            <a:avLst/>
          </a:prstGeom>
          <a:noFill/>
        </p:spPr>
        <p:txBody>
          <a:bodyPr wrap="square" lIns="135000" r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버스 정류장의 </a:t>
            </a:r>
            <a:r>
              <a:rPr lang="ko-KR" altLang="en-US" sz="825" dirty="0" err="1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승하차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인원수를 저장하는 모델</a:t>
            </a:r>
            <a:endParaRPr lang="en-US" altLang="ko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1647604-D8FA-0203-679C-D19F87C30193}"/>
              </a:ext>
            </a:extLst>
          </p:cNvPr>
          <p:cNvSpPr/>
          <p:nvPr/>
        </p:nvSpPr>
        <p:spPr>
          <a:xfrm flipH="1">
            <a:off x="308601" y="1385065"/>
            <a:ext cx="1536300" cy="761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E44B06-56BB-B6FD-4ECE-0687A59BF422}"/>
              </a:ext>
            </a:extLst>
          </p:cNvPr>
          <p:cNvSpPr/>
          <p:nvPr/>
        </p:nvSpPr>
        <p:spPr>
          <a:xfrm>
            <a:off x="203076" y="607501"/>
            <a:ext cx="1752296" cy="5146064"/>
          </a:xfrm>
          <a:prstGeom prst="rect">
            <a:avLst/>
          </a:prstGeom>
          <a:noFill/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33E7694-6579-3719-BD18-372EB8379E01}"/>
              </a:ext>
            </a:extLst>
          </p:cNvPr>
          <p:cNvSpPr txBox="1"/>
          <p:nvPr/>
        </p:nvSpPr>
        <p:spPr>
          <a:xfrm>
            <a:off x="306127" y="1387173"/>
            <a:ext cx="786817" cy="357518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r>
              <a:rPr lang="en-US" sz="82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busstop_id</a:t>
            </a:r>
            <a:endParaRPr lang="en-US" sz="825" b="1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  <a:p>
            <a:r>
              <a:rPr lang="en-KR" sz="825" b="1" dirty="0">
                <a:solidFill>
                  <a:srgbClr val="44B29C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CharField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0CAFE3B-F889-B68B-7811-19B08DC84FE4}"/>
              </a:ext>
            </a:extLst>
          </p:cNvPr>
          <p:cNvSpPr txBox="1"/>
          <p:nvPr/>
        </p:nvSpPr>
        <p:spPr>
          <a:xfrm>
            <a:off x="306126" y="1767774"/>
            <a:ext cx="1541476" cy="368241"/>
          </a:xfrm>
          <a:prstGeom prst="rect">
            <a:avLst/>
          </a:prstGeom>
          <a:noFill/>
        </p:spPr>
        <p:txBody>
          <a:bodyPr wrap="square" lIns="67500" rIns="67500" b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하나의 정류장 고유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ID.</a:t>
            </a:r>
          </a:p>
          <a:p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길이 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중복 가능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5DA5027-91B6-88C2-3834-7D40C92F5656}"/>
              </a:ext>
            </a:extLst>
          </p:cNvPr>
          <p:cNvSpPr/>
          <p:nvPr/>
        </p:nvSpPr>
        <p:spPr>
          <a:xfrm flipH="1">
            <a:off x="308601" y="2250610"/>
            <a:ext cx="1539000" cy="761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D0F2A3A-B56B-42A6-3D80-7D2D9990AE3E}"/>
              </a:ext>
            </a:extLst>
          </p:cNvPr>
          <p:cNvSpPr txBox="1"/>
          <p:nvPr/>
        </p:nvSpPr>
        <p:spPr>
          <a:xfrm>
            <a:off x="306125" y="2252718"/>
            <a:ext cx="988796" cy="357518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r>
              <a:rPr lang="en-US" sz="82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bus_id</a:t>
            </a:r>
            <a:endParaRPr lang="en-US" sz="825" b="1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  <a:p>
            <a:r>
              <a:rPr lang="en-KR" sz="825" b="1" dirty="0">
                <a:solidFill>
                  <a:srgbClr val="44B29C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CharField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27FE57F-695E-1B02-CB20-061DCED34B61}"/>
              </a:ext>
            </a:extLst>
          </p:cNvPr>
          <p:cNvSpPr txBox="1"/>
          <p:nvPr/>
        </p:nvSpPr>
        <p:spPr>
          <a:xfrm>
            <a:off x="308600" y="2633319"/>
            <a:ext cx="1539000" cy="368241"/>
          </a:xfrm>
          <a:prstGeom prst="rect">
            <a:avLst/>
          </a:prstGeom>
          <a:noFill/>
        </p:spPr>
        <p:txBody>
          <a:bodyPr wrap="square" lIns="67500" rIns="67500" b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하나의 버스 노선 고유 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ID.</a:t>
            </a:r>
          </a:p>
          <a:p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최대 길이 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자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중복 가능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1D68FD-3465-73C5-422D-DBCE717FC8F9}"/>
              </a:ext>
            </a:extLst>
          </p:cNvPr>
          <p:cNvSpPr/>
          <p:nvPr/>
        </p:nvSpPr>
        <p:spPr>
          <a:xfrm flipH="1">
            <a:off x="306125" y="3125104"/>
            <a:ext cx="1539000" cy="761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6E0B40-A2F2-AEA3-87A1-C58228585184}"/>
              </a:ext>
            </a:extLst>
          </p:cNvPr>
          <p:cNvSpPr txBox="1"/>
          <p:nvPr/>
        </p:nvSpPr>
        <p:spPr>
          <a:xfrm>
            <a:off x="303649" y="3127212"/>
            <a:ext cx="988796" cy="357518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r>
              <a:rPr 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timestamp</a:t>
            </a:r>
          </a:p>
          <a:p>
            <a:r>
              <a:rPr lang="en-KR" sz="825" b="1" dirty="0">
                <a:solidFill>
                  <a:srgbClr val="44B29C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DateTimeField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9ADF64-914A-C1E9-CB18-72EE778027F3}"/>
              </a:ext>
            </a:extLst>
          </p:cNvPr>
          <p:cNvSpPr txBox="1"/>
          <p:nvPr/>
        </p:nvSpPr>
        <p:spPr>
          <a:xfrm>
            <a:off x="306124" y="3507813"/>
            <a:ext cx="1539000" cy="368241"/>
          </a:xfrm>
          <a:prstGeom prst="rect">
            <a:avLst/>
          </a:prstGeom>
          <a:noFill/>
        </p:spPr>
        <p:txBody>
          <a:bodyPr wrap="square" lIns="67500" rIns="67500" b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데이터가 수집된 기준 시간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날짜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/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시간 형식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4B943FE-2F56-0C0B-3BF9-05B0131FE3C3}"/>
              </a:ext>
            </a:extLst>
          </p:cNvPr>
          <p:cNvSpPr/>
          <p:nvPr/>
        </p:nvSpPr>
        <p:spPr>
          <a:xfrm flipH="1">
            <a:off x="308600" y="3998172"/>
            <a:ext cx="1539000" cy="7614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56F9747-9B69-71C5-B9E9-489411E13052}"/>
              </a:ext>
            </a:extLst>
          </p:cNvPr>
          <p:cNvSpPr txBox="1"/>
          <p:nvPr/>
        </p:nvSpPr>
        <p:spPr>
          <a:xfrm>
            <a:off x="306124" y="4000280"/>
            <a:ext cx="988796" cy="357518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r>
              <a:rPr lang="en-US" sz="82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passenger_on</a:t>
            </a:r>
            <a:endParaRPr lang="en-US" sz="825" b="1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  <a:p>
            <a:r>
              <a:rPr lang="en-KR" sz="825" b="1" dirty="0">
                <a:solidFill>
                  <a:srgbClr val="44B29C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IntegerField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A573FE8-7556-53BA-AE86-7C1C31AA9B44}"/>
              </a:ext>
            </a:extLst>
          </p:cNvPr>
          <p:cNvSpPr txBox="1"/>
          <p:nvPr/>
        </p:nvSpPr>
        <p:spPr>
          <a:xfrm>
            <a:off x="308600" y="4380882"/>
            <a:ext cx="1539000" cy="368241"/>
          </a:xfrm>
          <a:prstGeom prst="rect">
            <a:avLst/>
          </a:prstGeom>
          <a:noFill/>
        </p:spPr>
        <p:txBody>
          <a:bodyPr wrap="square" lIns="67500" rIns="67500" bIns="67500" rtlCol="0">
            <a:spAutoFit/>
          </a:bodyPr>
          <a:lstStyle/>
          <a:p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해당 정류장의 하루간 승차 인원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정수 형식</a:t>
            </a:r>
            <a:r>
              <a:rPr lang="en-US" altLang="ko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endParaRPr lang="en-KR" sz="825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895907B6-04C1-737F-AA59-3DEBE77622AB}"/>
              </a:ext>
            </a:extLst>
          </p:cNvPr>
          <p:cNvGrpSpPr/>
          <p:nvPr/>
        </p:nvGrpSpPr>
        <p:grpSpPr>
          <a:xfrm>
            <a:off x="303424" y="4868956"/>
            <a:ext cx="1541477" cy="763088"/>
            <a:chOff x="408167" y="1844503"/>
            <a:chExt cx="2055302" cy="1017450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FB20EC13-6180-2891-AB77-64CDE2CB70EC}"/>
                </a:ext>
              </a:extLst>
            </p:cNvPr>
            <p:cNvSpPr/>
            <p:nvPr/>
          </p:nvSpPr>
          <p:spPr>
            <a:xfrm flipH="1">
              <a:off x="411469" y="1846753"/>
              <a:ext cx="2048400" cy="1015200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63D958E-B810-F594-4E61-6B4389A69F60}"/>
                </a:ext>
              </a:extLst>
            </p:cNvPr>
            <p:cNvSpPr txBox="1"/>
            <p:nvPr/>
          </p:nvSpPr>
          <p:spPr>
            <a:xfrm>
              <a:off x="408168" y="1849564"/>
              <a:ext cx="1399520" cy="476690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passenger_off</a:t>
              </a:r>
              <a:endParaRPr 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  <a:p>
              <a:r>
                <a:rPr lang="en-KR" sz="825" b="1" dirty="0">
                  <a:solidFill>
                    <a:srgbClr val="44B29C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IntegerField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D218ED3D-9052-55A8-F83C-81D8F60AB3A7}"/>
                </a:ext>
              </a:extLst>
            </p:cNvPr>
            <p:cNvSpPr txBox="1"/>
            <p:nvPr/>
          </p:nvSpPr>
          <p:spPr>
            <a:xfrm>
              <a:off x="408167" y="2357032"/>
              <a:ext cx="2055301" cy="490988"/>
            </a:xfrm>
            <a:prstGeom prst="rect">
              <a:avLst/>
            </a:prstGeom>
            <a:noFill/>
          </p:spPr>
          <p:txBody>
            <a:bodyPr wrap="square" lIns="67500" rIns="67500" bIns="67500" rtlCol="0">
              <a:spAutoFit/>
            </a:bodyPr>
            <a:lstStyle/>
            <a:p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해당 정류장의 하루간 하차 인원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.</a:t>
              </a:r>
            </a:p>
            <a:p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(</a:t>
              </a:r>
              <a:r>
                <a:rPr lang="ko-KR" altLang="en-US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정수 형식</a:t>
              </a:r>
              <a:r>
                <a:rPr lang="en-US" altLang="ko-KR" sz="825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)</a:t>
              </a:r>
              <a:endParaRPr lang="en-KR" sz="825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60FC429-DDD7-DAB9-8804-3B58B21D0A5F}"/>
                </a:ext>
              </a:extLst>
            </p:cNvPr>
            <p:cNvSpPr txBox="1"/>
            <p:nvPr/>
          </p:nvSpPr>
          <p:spPr>
            <a:xfrm>
              <a:off x="1437159" y="1844503"/>
              <a:ext cx="1026310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pPr algn="r"/>
              <a:r>
                <a:rPr lang="en-US" altLang="ko-KR" sz="825" b="1" dirty="0">
                  <a:solidFill>
                    <a:schemeClr val="bg1">
                      <a:lumMod val="65000"/>
                    </a:schemeClr>
                  </a:solidFill>
                  <a:latin typeface="Pretendard" panose="02000503000000020004" pitchFamily="2" charset="-127"/>
                  <a:ea typeface="Pretendard" panose="02000503000000020004" pitchFamily="2" charset="-127"/>
                  <a:cs typeface="Pretendard" panose="02000503000000020004" pitchFamily="2" charset="-127"/>
                </a:rPr>
                <a:t>954</a:t>
              </a:r>
              <a:endParaRPr lang="en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endParaRP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4DD899D2-6BC1-50CD-6426-3F4B030F1760}"/>
              </a:ext>
            </a:extLst>
          </p:cNvPr>
          <p:cNvSpPr txBox="1"/>
          <p:nvPr/>
        </p:nvSpPr>
        <p:spPr>
          <a:xfrm>
            <a:off x="1058309" y="1383379"/>
            <a:ext cx="786817" cy="230560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pPr algn="r"/>
            <a:r>
              <a:rPr lang="en-US" altLang="ko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“119900101”</a:t>
            </a:r>
            <a:endParaRPr lang="en-KR" sz="825" b="1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88ED51D-BB2D-0FAB-0134-EDBB59206F60}"/>
              </a:ext>
            </a:extLst>
          </p:cNvPr>
          <p:cNvSpPr txBox="1"/>
          <p:nvPr/>
        </p:nvSpPr>
        <p:spPr>
          <a:xfrm>
            <a:off x="856330" y="2250610"/>
            <a:ext cx="988795" cy="230560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pPr algn="r"/>
            <a:r>
              <a:rPr lang="en-US" altLang="ko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“11110602”</a:t>
            </a:r>
            <a:endParaRPr lang="en-KR" sz="825" b="1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8E90A3A-23CD-4C66-2DA8-F7B1F66AAC57}"/>
              </a:ext>
            </a:extLst>
          </p:cNvPr>
          <p:cNvSpPr txBox="1"/>
          <p:nvPr/>
        </p:nvSpPr>
        <p:spPr>
          <a:xfrm>
            <a:off x="856330" y="3124501"/>
            <a:ext cx="988795" cy="357518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pPr algn="r"/>
            <a:r>
              <a:rPr lang="en-US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2025-10-30 00:00</a:t>
            </a:r>
            <a:endParaRPr lang="en-KR" sz="825" b="1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006C40E-FDD9-92E7-EB3F-DFC753AF364F}"/>
              </a:ext>
            </a:extLst>
          </p:cNvPr>
          <p:cNvSpPr txBox="1"/>
          <p:nvPr/>
        </p:nvSpPr>
        <p:spPr>
          <a:xfrm>
            <a:off x="861283" y="3996967"/>
            <a:ext cx="988795" cy="230560"/>
          </a:xfrm>
          <a:prstGeom prst="rect">
            <a:avLst/>
          </a:prstGeom>
          <a:noFill/>
        </p:spPr>
        <p:txBody>
          <a:bodyPr wrap="square" lIns="67500" tIns="67500" rIns="67500" bIns="35100" rtlCol="0">
            <a:spAutoFit/>
          </a:bodyPr>
          <a:lstStyle/>
          <a:p>
            <a:pPr algn="r"/>
            <a:r>
              <a:rPr lang="en-US" altLang="ko-KR" sz="825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134</a:t>
            </a:r>
            <a:endParaRPr lang="en-KR" sz="825" b="1" dirty="0">
              <a:solidFill>
                <a:schemeClr val="bg1">
                  <a:lumMod val="6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2EDF3C9-B279-B2CF-8835-C67898708452}"/>
              </a:ext>
            </a:extLst>
          </p:cNvPr>
          <p:cNvSpPr txBox="1"/>
          <p:nvPr/>
        </p:nvSpPr>
        <p:spPr>
          <a:xfrm>
            <a:off x="2157874" y="815251"/>
            <a:ext cx="4497051" cy="3957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버스 정류장별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승하차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인원수를 받아오는 데이터입니다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본 프로젝트 주제의 골자가 되는 중요한 데이터 로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매일매일 </a:t>
            </a:r>
            <a:endParaRPr lang="en-US" altLang="ko-KR" sz="825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0FB1958-B538-9428-3E5C-B8D8A37BBF69}"/>
              </a:ext>
            </a:extLst>
          </p:cNvPr>
          <p:cNvSpPr txBox="1"/>
          <p:nvPr/>
        </p:nvSpPr>
        <p:spPr>
          <a:xfrm>
            <a:off x="2157874" y="607499"/>
            <a:ext cx="1103187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수집 목적 및 사용 방안</a:t>
            </a:r>
            <a:endParaRPr lang="en-US" altLang="ko-KR" sz="825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76B88AE-1474-B239-05E1-6832B73C279C}"/>
              </a:ext>
            </a:extLst>
          </p:cNvPr>
          <p:cNvSpPr txBox="1"/>
          <p:nvPr/>
        </p:nvSpPr>
        <p:spPr>
          <a:xfrm>
            <a:off x="2157873" y="2896892"/>
            <a:ext cx="4497051" cy="5544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서울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열린데이터광장에서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제공하는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서울시 버스정류소 위치정보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 정류장 고유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ID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와 그에 대응하는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한글명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지도상 위치를 받아옵니다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카카오에서 제공하는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카카오맵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로컬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REST API’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활용하여 버스 정류장이 위치한 좌표가 어느 행정동에 속하여 있는지를 받아옵니다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5469D47-14C3-FC52-CDDE-C15291F3C5A9}"/>
              </a:ext>
            </a:extLst>
          </p:cNvPr>
          <p:cNvSpPr txBox="1"/>
          <p:nvPr/>
        </p:nvSpPr>
        <p:spPr>
          <a:xfrm>
            <a:off x="2157874" y="2700684"/>
            <a:ext cx="1079142" cy="2192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정보 출처와 저장 절차</a:t>
            </a:r>
            <a:endParaRPr lang="en-US" altLang="ko-KR" sz="825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EB63DD6-0C12-DB96-95AF-8B93AE82F43B}"/>
              </a:ext>
            </a:extLst>
          </p:cNvPr>
          <p:cNvSpPr txBox="1"/>
          <p:nvPr/>
        </p:nvSpPr>
        <p:spPr>
          <a:xfrm>
            <a:off x="2157873" y="3451339"/>
            <a:ext cx="4497051" cy="1665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25000"/>
              </a:lnSpc>
            </a:pP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 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en-US" altLang="ko-KR" sz="825" dirty="0" err="1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fetch_busstop_data.py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ECB2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API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요청과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DB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저장을 관리합니다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행정동별 인구 수와 마찬가지로 만 개가 넘는 정류장의 데이터를 받아와야 하지만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한 번에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1,000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 까지의 제한이 있기에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마찬가지로 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페이지네이션을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활용하여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1,000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건씩 나누어 요청을 보냅니다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교통 정책에 따라 생겼다 사라질 수도 있는 버스 정류장이기에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정류장이 사용되고 있는지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아닌지 상태를 별도로 추적합니다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사용되고 있지 않은 상태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폐지된 정류장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이라도 과거 데이터를 열람하여 시간에 따른 추이를 확인할 수 있게 하고자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en-US" altLang="ko-KR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is_active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데이터로 정류장 활성 여부를 추적하여 데이터를 삭제하지 않고 보존합니다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또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서울시 공공데이터에서는 기본적으로 특정한 버스 정류장이 위치한 지도상의 좌표만 제공하고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주소나 소속된 행정동 정보는 별도로 제공하지 않기에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highlight>
                  <a:srgbClr val="FFDADB"/>
                </a:highlight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제공되는 좌표를 통해 이 정류장이 어느 행정동에 위치하여 있는지를 확인하는 과정을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‘</a:t>
            </a:r>
            <a:r>
              <a:rPr lang="ko-KR" altLang="en-US" sz="82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카카오맵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로컬 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REST API’</a:t>
            </a:r>
            <a:r>
              <a:rPr lang="ko-KR" altLang="en-US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에서 제공하는 좌표의 행정동 주소로의 변환 서비스를 거쳐 최종 데이터를 수집하게 됩니다</a:t>
            </a:r>
            <a:r>
              <a:rPr lang="en-US" altLang="ko-KR" sz="82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9E0585F-2838-5025-3620-38F986E45044}"/>
              </a:ext>
            </a:extLst>
          </p:cNvPr>
          <p:cNvSpPr txBox="1"/>
          <p:nvPr/>
        </p:nvSpPr>
        <p:spPr>
          <a:xfrm>
            <a:off x="2157874" y="1369698"/>
            <a:ext cx="4497051" cy="10092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ko-KR" sz="67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busstop_id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버스 정류장별 데이터의 구분을 위한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ID</a:t>
            </a:r>
            <a:r>
              <a:rPr lang="ko-KR" altLang="en-US" sz="67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담은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서울시에서는 정류장별 데이터를 제공할 때 노선별로도 나누어 따로 출력하므로 중복 가능합니다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en-US" altLang="ko-KR" sz="67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Pretendard" panose="02000503000000020004" pitchFamily="2" charset="-127"/>
                <a:cs typeface="Cascadia Code" panose="020B0609020000020004" pitchFamily="34" charset="0"/>
              </a:rPr>
              <a:t>bus_id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사용자에게 데이터를 출력해야 할 때를 고려하여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버스 정류별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ID</a:t>
            </a:r>
            <a:r>
              <a:rPr lang="ko-KR" altLang="en-US" sz="67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에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따른 정류장의 한글명을 담은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en-US" altLang="ko-KR" sz="67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timestamp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지도상 위치와 소속 행정동을 찾기 위한 경도 좌표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  <a:p>
            <a:pPr algn="just">
              <a:lnSpc>
                <a:spcPct val="150000"/>
              </a:lnSpc>
            </a:pPr>
            <a:r>
              <a:rPr lang="en-US" altLang="ko-KR" sz="67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passenger_on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지도상 위치와 소속 행정동을 찾기 위한 위도 좌표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  <a:endParaRPr lang="en-US" altLang="ko-KR" sz="675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  <a:p>
            <a:pPr algn="just">
              <a:lnSpc>
                <a:spcPct val="150000"/>
              </a:lnSpc>
            </a:pPr>
            <a:r>
              <a:rPr lang="en-US" altLang="ko-KR" sz="67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passenger_off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: 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소속 행정동별 데이터의 구분을 위한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ID</a:t>
            </a:r>
            <a:r>
              <a:rPr lang="ko-KR" altLang="en-US" sz="675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를</a:t>
            </a:r>
            <a:r>
              <a:rPr lang="ko-KR" altLang="en-US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담은 데이터입니다</a:t>
            </a:r>
            <a:r>
              <a:rPr lang="en-US" altLang="ko-KR" sz="675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.</a:t>
            </a: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6FD12CF1-A6B7-B90B-00CE-C3840F039903}"/>
              </a:ext>
            </a:extLst>
          </p:cNvPr>
          <p:cNvCxnSpPr>
            <a:cxnSpLocks/>
          </p:cNvCxnSpPr>
          <p:nvPr/>
        </p:nvCxnSpPr>
        <p:spPr>
          <a:xfrm>
            <a:off x="0" y="405000"/>
            <a:ext cx="6858000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FFD18A5A-0235-83D3-5032-7FD6B1C7A2D6}"/>
              </a:ext>
            </a:extLst>
          </p:cNvPr>
          <p:cNvCxnSpPr>
            <a:cxnSpLocks/>
          </p:cNvCxnSpPr>
          <p:nvPr/>
        </p:nvCxnSpPr>
        <p:spPr>
          <a:xfrm>
            <a:off x="2218767" y="2513336"/>
            <a:ext cx="4436738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02459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DAFA3-6AF1-4247-E881-D906C62343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F4FEFBD-EDEF-2331-3B4E-F084B2B8E04E}"/>
              </a:ext>
            </a:extLst>
          </p:cNvPr>
          <p:cNvSpPr>
            <a:spLocks/>
          </p:cNvSpPr>
          <p:nvPr/>
        </p:nvSpPr>
        <p:spPr>
          <a:xfrm>
            <a:off x="0" y="0"/>
            <a:ext cx="3429000" cy="405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5000" tIns="35100" rIns="67500" bIns="67500" numCol="1" rtlCol="0" anchor="b"/>
          <a:lstStyle/>
          <a:p>
            <a:r>
              <a:rPr lang="en-US" altLang="ko-KR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History</a:t>
            </a:r>
            <a:r>
              <a:rPr lang="ko-KR" alt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데이터 모델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25DEDE6-E389-7291-F5DF-D1046BF6A31A}"/>
              </a:ext>
            </a:extLst>
          </p:cNvPr>
          <p:cNvSpPr>
            <a:spLocks/>
          </p:cNvSpPr>
          <p:nvPr/>
        </p:nvSpPr>
        <p:spPr>
          <a:xfrm>
            <a:off x="3429000" y="0"/>
            <a:ext cx="3429000" cy="405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7500" tIns="35100" rIns="135000" bIns="67500" numCol="1" rtlCol="0" anchor="b"/>
          <a:lstStyle/>
          <a:p>
            <a:pPr algn="r"/>
            <a:r>
              <a:rPr lang="en-US" altLang="ko-KR" sz="900" b="1" dirty="0" err="1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seoulbusmap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 프로젝트에 사용될 데이터 구조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(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모델</a:t>
            </a:r>
            <a:r>
              <a:rPr lang="en-US" altLang="ko-KR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)</a:t>
            </a:r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을 정의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A00D3BDF-81E4-EBD3-310C-BDAE6B08C5E1}"/>
              </a:ext>
            </a:extLst>
          </p:cNvPr>
          <p:cNvCxnSpPr>
            <a:cxnSpLocks/>
          </p:cNvCxnSpPr>
          <p:nvPr/>
        </p:nvCxnSpPr>
        <p:spPr>
          <a:xfrm>
            <a:off x="0" y="405000"/>
            <a:ext cx="6858000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90B3A72B-CCE3-8852-8C49-67F4BFCAF83F}"/>
              </a:ext>
            </a:extLst>
          </p:cNvPr>
          <p:cNvSpPr/>
          <p:nvPr/>
        </p:nvSpPr>
        <p:spPr>
          <a:xfrm>
            <a:off x="203077" y="607501"/>
            <a:ext cx="1754999" cy="19003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B83049-971E-F5DC-D5CB-A59C1B89D3EF}"/>
              </a:ext>
            </a:extLst>
          </p:cNvPr>
          <p:cNvSpPr/>
          <p:nvPr/>
        </p:nvSpPr>
        <p:spPr>
          <a:xfrm>
            <a:off x="203079" y="607500"/>
            <a:ext cx="1754999" cy="710066"/>
          </a:xfrm>
          <a:prstGeom prst="rect">
            <a:avLst/>
          </a:prstGeom>
          <a:gradFill>
            <a:gsLst>
              <a:gs pos="0">
                <a:schemeClr val="bg2"/>
              </a:gs>
              <a:gs pos="100000">
                <a:schemeClr val="bg1">
                  <a:lumMod val="9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13F9E8-3A05-7FB5-4F5D-AAE11996C8CE}"/>
              </a:ext>
            </a:extLst>
          </p:cNvPr>
          <p:cNvSpPr txBox="1"/>
          <p:nvPr/>
        </p:nvSpPr>
        <p:spPr>
          <a:xfrm>
            <a:off x="203076" y="607499"/>
            <a:ext cx="1754997" cy="298719"/>
          </a:xfrm>
          <a:prstGeom prst="rect">
            <a:avLst/>
          </a:prstGeom>
          <a:noFill/>
        </p:spPr>
        <p:txBody>
          <a:bodyPr wrap="square" lIns="135000" tIns="135000" rIns="67500" bIns="35100" rtlCol="0">
            <a:spAutoFit/>
          </a:bodyPr>
          <a:lstStyle/>
          <a:p>
            <a:r>
              <a:rPr lang="en-US" sz="825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HangJeongDong</a:t>
            </a:r>
            <a:endParaRPr lang="en-KR" sz="825" b="1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3D251F7-56B9-BC2B-3800-DA47C952FD4D}"/>
              </a:ext>
            </a:extLst>
          </p:cNvPr>
          <p:cNvSpPr/>
          <p:nvPr/>
        </p:nvSpPr>
        <p:spPr>
          <a:xfrm>
            <a:off x="203076" y="607500"/>
            <a:ext cx="1755000" cy="1900363"/>
          </a:xfrm>
          <a:prstGeom prst="rect">
            <a:avLst/>
          </a:prstGeom>
          <a:noFill/>
          <a:ln w="1270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 sz="135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ECF9BBC-1529-5F8F-DA75-D93AA87E55CF}"/>
              </a:ext>
            </a:extLst>
          </p:cNvPr>
          <p:cNvGrpSpPr/>
          <p:nvPr/>
        </p:nvGrpSpPr>
        <p:grpSpPr>
          <a:xfrm>
            <a:off x="306126" y="1385062"/>
            <a:ext cx="1539676" cy="270000"/>
            <a:chOff x="408168" y="1846751"/>
            <a:chExt cx="2052901" cy="3600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2E7046E0-6384-06E9-D43F-DDF036BB84E6}"/>
                </a:ext>
              </a:extLst>
            </p:cNvPr>
            <p:cNvSpPr/>
            <p:nvPr/>
          </p:nvSpPr>
          <p:spPr>
            <a:xfrm flipH="1">
              <a:off x="411469" y="1846751"/>
              <a:ext cx="2049600" cy="360000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CD5C482-578A-DE89-F849-006CE2FA1330}"/>
                </a:ext>
              </a:extLst>
            </p:cNvPr>
            <p:cNvSpPr txBox="1"/>
            <p:nvPr/>
          </p:nvSpPr>
          <p:spPr>
            <a:xfrm>
              <a:off x="408168" y="1849564"/>
              <a:ext cx="1186486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district_id</a:t>
              </a:r>
              <a:endParaRPr lang="en-US" sz="825" b="1" dirty="0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D73F64B1-E75D-8555-B09C-5B59A30EC355}"/>
              </a:ext>
            </a:extLst>
          </p:cNvPr>
          <p:cNvGrpSpPr/>
          <p:nvPr/>
        </p:nvGrpSpPr>
        <p:grpSpPr>
          <a:xfrm>
            <a:off x="307364" y="1761050"/>
            <a:ext cx="1539676" cy="270000"/>
            <a:chOff x="408168" y="1846751"/>
            <a:chExt cx="2052901" cy="36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FFB17EE9-0F72-6C40-23E2-917E24FB452E}"/>
                </a:ext>
              </a:extLst>
            </p:cNvPr>
            <p:cNvSpPr/>
            <p:nvPr/>
          </p:nvSpPr>
          <p:spPr>
            <a:xfrm flipH="1">
              <a:off x="411469" y="1846751"/>
              <a:ext cx="2049600" cy="360000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4AECB37A-7B7D-EBB5-FE58-776765DF4959}"/>
                </a:ext>
              </a:extLst>
            </p:cNvPr>
            <p:cNvSpPr txBox="1"/>
            <p:nvPr/>
          </p:nvSpPr>
          <p:spPr>
            <a:xfrm>
              <a:off x="408168" y="1849564"/>
              <a:ext cx="1186486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name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6EFF3262-C444-81EA-B5EA-ED416C228B07}"/>
              </a:ext>
            </a:extLst>
          </p:cNvPr>
          <p:cNvGrpSpPr/>
          <p:nvPr/>
        </p:nvGrpSpPr>
        <p:grpSpPr>
          <a:xfrm>
            <a:off x="306126" y="2139222"/>
            <a:ext cx="1539676" cy="270000"/>
            <a:chOff x="408168" y="1846751"/>
            <a:chExt cx="2052901" cy="3600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7DA9AD67-B6BC-93C8-0C98-57EB858D033B}"/>
                </a:ext>
              </a:extLst>
            </p:cNvPr>
            <p:cNvSpPr/>
            <p:nvPr/>
          </p:nvSpPr>
          <p:spPr>
            <a:xfrm flipH="1">
              <a:off x="411469" y="1846751"/>
              <a:ext cx="2049600" cy="360000"/>
            </a:xfrm>
            <a:prstGeom prst="rect">
              <a:avLst/>
            </a:prstGeom>
            <a:solidFill>
              <a:schemeClr val="bg2"/>
            </a:solidFill>
            <a:ln w="12700"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 sz="1350" dirty="0"/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355BCA54-089E-0F4F-21A4-57CED222D23C}"/>
                </a:ext>
              </a:extLst>
            </p:cNvPr>
            <p:cNvSpPr txBox="1"/>
            <p:nvPr/>
          </p:nvSpPr>
          <p:spPr>
            <a:xfrm>
              <a:off x="408168" y="1849564"/>
              <a:ext cx="1186486" cy="307413"/>
            </a:xfrm>
            <a:prstGeom prst="rect">
              <a:avLst/>
            </a:prstGeom>
            <a:noFill/>
          </p:spPr>
          <p:txBody>
            <a:bodyPr wrap="square" lIns="67500" tIns="67500" rIns="67500" bIns="35100" rtlCol="0">
              <a:spAutoFit/>
            </a:bodyPr>
            <a:lstStyle/>
            <a:p>
              <a:r>
                <a:rPr lang="en-US" sz="825" b="1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population</a:t>
              </a:r>
            </a:p>
          </p:txBody>
        </p:sp>
      </p:grpSp>
      <p:sp>
        <p:nvSpPr>
          <p:cNvPr id="58" name="Rectangle 57">
            <a:extLst>
              <a:ext uri="{FF2B5EF4-FFF2-40B4-BE49-F238E27FC236}">
                <a16:creationId xmlns:a16="http://schemas.microsoft.com/office/drawing/2014/main" id="{8FD9EED8-D7D4-7837-7BBD-4ABFF93BEE90}"/>
              </a:ext>
            </a:extLst>
          </p:cNvPr>
          <p:cNvSpPr/>
          <p:nvPr/>
        </p:nvSpPr>
        <p:spPr>
          <a:xfrm>
            <a:off x="946260" y="2406197"/>
            <a:ext cx="768240" cy="1016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5852407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5F2C96A-7D9C-341F-EE12-6F6372126C01}"/>
              </a:ext>
            </a:extLst>
          </p:cNvPr>
          <p:cNvSpPr>
            <a:spLocks/>
          </p:cNvSpPr>
          <p:nvPr/>
        </p:nvSpPr>
        <p:spPr>
          <a:xfrm>
            <a:off x="0" y="0"/>
            <a:ext cx="3429000" cy="405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5000" tIns="35100" rIns="67500" bIns="67500" numCol="1" rtlCol="0" anchor="b"/>
          <a:lstStyle/>
          <a:p>
            <a:r>
              <a:rPr lang="ko-KR" alt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 수집 출처와 과정 다이어그램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5B4259B-E64E-7ACA-C457-931A3B02A91A}"/>
              </a:ext>
            </a:extLst>
          </p:cNvPr>
          <p:cNvSpPr>
            <a:spLocks/>
          </p:cNvSpPr>
          <p:nvPr/>
        </p:nvSpPr>
        <p:spPr>
          <a:xfrm>
            <a:off x="3429000" y="0"/>
            <a:ext cx="3429000" cy="405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67500" tIns="35100" rIns="135000" bIns="67500" numCol="1" rtlCol="0" anchor="b"/>
          <a:lstStyle/>
          <a:p>
            <a:pPr algn="r"/>
            <a:r>
              <a:rPr lang="ko-KR" altLang="en-US" sz="900" b="1" dirty="0">
                <a:solidFill>
                  <a:schemeClr val="bg1">
                    <a:lumMod val="6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데이터 모델 별 저장 정보의 출처와 정보의 이동 경로를 명세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0B76CCA-CA43-075D-AC72-5D22DA418F01}"/>
              </a:ext>
            </a:extLst>
          </p:cNvPr>
          <p:cNvCxnSpPr>
            <a:cxnSpLocks/>
          </p:cNvCxnSpPr>
          <p:nvPr/>
        </p:nvCxnSpPr>
        <p:spPr>
          <a:xfrm>
            <a:off x="0" y="405000"/>
            <a:ext cx="6858000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reeform 10">
            <a:extLst>
              <a:ext uri="{FF2B5EF4-FFF2-40B4-BE49-F238E27FC236}">
                <a16:creationId xmlns:a16="http://schemas.microsoft.com/office/drawing/2014/main" id="{45113F95-575A-32CD-867D-95488FCA1580}"/>
              </a:ext>
            </a:extLst>
          </p:cNvPr>
          <p:cNvSpPr/>
          <p:nvPr/>
        </p:nvSpPr>
        <p:spPr>
          <a:xfrm>
            <a:off x="801028" y="906142"/>
            <a:ext cx="940456" cy="540935"/>
          </a:xfrm>
          <a:custGeom>
            <a:avLst/>
            <a:gdLst>
              <a:gd name="connsiteX0" fmla="*/ 1250796 w 2404018"/>
              <a:gd name="connsiteY0" fmla="*/ 0 h 1382752"/>
              <a:gd name="connsiteX1" fmla="*/ 1887840 w 2404018"/>
              <a:gd name="connsiteY1" fmla="*/ 422261 h 1382752"/>
              <a:gd name="connsiteX2" fmla="*/ 1900565 w 2404018"/>
              <a:gd name="connsiteY2" fmla="*/ 463252 h 1382752"/>
              <a:gd name="connsiteX3" fmla="*/ 1942171 w 2404018"/>
              <a:gd name="connsiteY3" fmla="*/ 459058 h 1382752"/>
              <a:gd name="connsiteX4" fmla="*/ 2404018 w 2404018"/>
              <a:gd name="connsiteY4" fmla="*/ 920905 h 1382752"/>
              <a:gd name="connsiteX5" fmla="*/ 1942171 w 2404018"/>
              <a:gd name="connsiteY5" fmla="*/ 1382752 h 1382752"/>
              <a:gd name="connsiteX6" fmla="*/ 1942161 w 2404018"/>
              <a:gd name="connsiteY6" fmla="*/ 1382751 h 1382752"/>
              <a:gd name="connsiteX7" fmla="*/ 1250806 w 2404018"/>
              <a:gd name="connsiteY7" fmla="*/ 1382751 h 1382752"/>
              <a:gd name="connsiteX8" fmla="*/ 1250796 w 2404018"/>
              <a:gd name="connsiteY8" fmla="*/ 1382752 h 1382752"/>
              <a:gd name="connsiteX9" fmla="*/ 1250786 w 2404018"/>
              <a:gd name="connsiteY9" fmla="*/ 1382751 h 1382752"/>
              <a:gd name="connsiteX10" fmla="*/ 559430 w 2404018"/>
              <a:gd name="connsiteY10" fmla="*/ 1382751 h 1382752"/>
              <a:gd name="connsiteX11" fmla="*/ 559420 w 2404018"/>
              <a:gd name="connsiteY11" fmla="*/ 1382752 h 1382752"/>
              <a:gd name="connsiteX12" fmla="*/ 0 w 2404018"/>
              <a:gd name="connsiteY12" fmla="*/ 823332 h 1382752"/>
              <a:gd name="connsiteX13" fmla="*/ 559420 w 2404018"/>
              <a:gd name="connsiteY13" fmla="*/ 263912 h 1382752"/>
              <a:gd name="connsiteX14" fmla="*/ 672163 w 2404018"/>
              <a:gd name="connsiteY14" fmla="*/ 275277 h 1382752"/>
              <a:gd name="connsiteX15" fmla="*/ 695815 w 2404018"/>
              <a:gd name="connsiteY15" fmla="*/ 282619 h 1382752"/>
              <a:gd name="connsiteX16" fmla="*/ 761920 w 2404018"/>
              <a:gd name="connsiteY16" fmla="*/ 202499 h 1382752"/>
              <a:gd name="connsiteX17" fmla="*/ 1250796 w 2404018"/>
              <a:gd name="connsiteY17" fmla="*/ 0 h 13827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404018" h="1382752">
                <a:moveTo>
                  <a:pt x="1250796" y="0"/>
                </a:moveTo>
                <a:cubicBezTo>
                  <a:pt x="1537173" y="0"/>
                  <a:pt x="1782884" y="174116"/>
                  <a:pt x="1887840" y="422261"/>
                </a:cubicBezTo>
                <a:lnTo>
                  <a:pt x="1900565" y="463252"/>
                </a:lnTo>
                <a:lnTo>
                  <a:pt x="1942171" y="459058"/>
                </a:lnTo>
                <a:cubicBezTo>
                  <a:pt x="2197242" y="459058"/>
                  <a:pt x="2404018" y="665834"/>
                  <a:pt x="2404018" y="920905"/>
                </a:cubicBezTo>
                <a:cubicBezTo>
                  <a:pt x="2404018" y="1175976"/>
                  <a:pt x="2197242" y="1382752"/>
                  <a:pt x="1942171" y="1382752"/>
                </a:cubicBezTo>
                <a:lnTo>
                  <a:pt x="1942161" y="1382751"/>
                </a:lnTo>
                <a:lnTo>
                  <a:pt x="1250806" y="1382751"/>
                </a:lnTo>
                <a:lnTo>
                  <a:pt x="1250796" y="1382752"/>
                </a:lnTo>
                <a:lnTo>
                  <a:pt x="1250786" y="1382751"/>
                </a:lnTo>
                <a:lnTo>
                  <a:pt x="559430" y="1382751"/>
                </a:lnTo>
                <a:lnTo>
                  <a:pt x="559420" y="1382752"/>
                </a:lnTo>
                <a:cubicBezTo>
                  <a:pt x="250461" y="1382752"/>
                  <a:pt x="0" y="1132291"/>
                  <a:pt x="0" y="823332"/>
                </a:cubicBezTo>
                <a:cubicBezTo>
                  <a:pt x="0" y="514373"/>
                  <a:pt x="250461" y="263912"/>
                  <a:pt x="559420" y="263912"/>
                </a:cubicBezTo>
                <a:cubicBezTo>
                  <a:pt x="598040" y="263912"/>
                  <a:pt x="635746" y="267825"/>
                  <a:pt x="672163" y="275277"/>
                </a:cubicBezTo>
                <a:lnTo>
                  <a:pt x="695815" y="282619"/>
                </a:lnTo>
                <a:lnTo>
                  <a:pt x="761920" y="202499"/>
                </a:lnTo>
                <a:cubicBezTo>
                  <a:pt x="887034" y="77385"/>
                  <a:pt x="1059878" y="0"/>
                  <a:pt x="1250796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tIns="64800" bIns="0" rtlCol="0" anchor="ctr">
            <a:noAutofit/>
          </a:bodyPr>
          <a:lstStyle/>
          <a:p>
            <a:pPr algn="ctr"/>
            <a:r>
              <a:rPr lang="ko-KR" alt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서울시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r>
              <a:rPr lang="ko-KR" altLang="en-US" sz="9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열린데이터광장</a:t>
            </a:r>
            <a:endParaRPr lang="en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370C658A-1997-A73C-03BE-64C1C10F50A0}"/>
              </a:ext>
            </a:extLst>
          </p:cNvPr>
          <p:cNvSpPr/>
          <p:nvPr/>
        </p:nvSpPr>
        <p:spPr>
          <a:xfrm>
            <a:off x="4845773" y="1488017"/>
            <a:ext cx="468351" cy="237892"/>
          </a:xfrm>
          <a:prstGeom prst="roundRect">
            <a:avLst>
              <a:gd name="adj" fmla="val 50000"/>
            </a:avLst>
          </a:prstGeom>
          <a:solidFill>
            <a:srgbClr val="4DC9B0"/>
          </a:solidFill>
          <a:ln w="12700">
            <a:solidFill>
              <a:srgbClr val="44B29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900" dirty="0">
                <a:solidFill>
                  <a:schemeClr val="bg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API</a:t>
            </a: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8B1538BF-881A-BFB4-485D-D178AB0E193B}"/>
              </a:ext>
            </a:extLst>
          </p:cNvPr>
          <p:cNvSpPr/>
          <p:nvPr/>
        </p:nvSpPr>
        <p:spPr>
          <a:xfrm>
            <a:off x="2000248" y="906142"/>
            <a:ext cx="940456" cy="540935"/>
          </a:xfrm>
          <a:custGeom>
            <a:avLst/>
            <a:gdLst>
              <a:gd name="connsiteX0" fmla="*/ 1250796 w 2404018"/>
              <a:gd name="connsiteY0" fmla="*/ 0 h 1382752"/>
              <a:gd name="connsiteX1" fmla="*/ 1887840 w 2404018"/>
              <a:gd name="connsiteY1" fmla="*/ 422261 h 1382752"/>
              <a:gd name="connsiteX2" fmla="*/ 1900565 w 2404018"/>
              <a:gd name="connsiteY2" fmla="*/ 463252 h 1382752"/>
              <a:gd name="connsiteX3" fmla="*/ 1942171 w 2404018"/>
              <a:gd name="connsiteY3" fmla="*/ 459058 h 1382752"/>
              <a:gd name="connsiteX4" fmla="*/ 2404018 w 2404018"/>
              <a:gd name="connsiteY4" fmla="*/ 920905 h 1382752"/>
              <a:gd name="connsiteX5" fmla="*/ 1942171 w 2404018"/>
              <a:gd name="connsiteY5" fmla="*/ 1382752 h 1382752"/>
              <a:gd name="connsiteX6" fmla="*/ 1942161 w 2404018"/>
              <a:gd name="connsiteY6" fmla="*/ 1382751 h 1382752"/>
              <a:gd name="connsiteX7" fmla="*/ 1250806 w 2404018"/>
              <a:gd name="connsiteY7" fmla="*/ 1382751 h 1382752"/>
              <a:gd name="connsiteX8" fmla="*/ 1250796 w 2404018"/>
              <a:gd name="connsiteY8" fmla="*/ 1382752 h 1382752"/>
              <a:gd name="connsiteX9" fmla="*/ 1250786 w 2404018"/>
              <a:gd name="connsiteY9" fmla="*/ 1382751 h 1382752"/>
              <a:gd name="connsiteX10" fmla="*/ 559430 w 2404018"/>
              <a:gd name="connsiteY10" fmla="*/ 1382751 h 1382752"/>
              <a:gd name="connsiteX11" fmla="*/ 559420 w 2404018"/>
              <a:gd name="connsiteY11" fmla="*/ 1382752 h 1382752"/>
              <a:gd name="connsiteX12" fmla="*/ 0 w 2404018"/>
              <a:gd name="connsiteY12" fmla="*/ 823332 h 1382752"/>
              <a:gd name="connsiteX13" fmla="*/ 559420 w 2404018"/>
              <a:gd name="connsiteY13" fmla="*/ 263912 h 1382752"/>
              <a:gd name="connsiteX14" fmla="*/ 672163 w 2404018"/>
              <a:gd name="connsiteY14" fmla="*/ 275277 h 1382752"/>
              <a:gd name="connsiteX15" fmla="*/ 695815 w 2404018"/>
              <a:gd name="connsiteY15" fmla="*/ 282619 h 1382752"/>
              <a:gd name="connsiteX16" fmla="*/ 761920 w 2404018"/>
              <a:gd name="connsiteY16" fmla="*/ 202499 h 1382752"/>
              <a:gd name="connsiteX17" fmla="*/ 1250796 w 2404018"/>
              <a:gd name="connsiteY17" fmla="*/ 0 h 13827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2404018" h="1382752">
                <a:moveTo>
                  <a:pt x="1250796" y="0"/>
                </a:moveTo>
                <a:cubicBezTo>
                  <a:pt x="1537173" y="0"/>
                  <a:pt x="1782884" y="174116"/>
                  <a:pt x="1887840" y="422261"/>
                </a:cubicBezTo>
                <a:lnTo>
                  <a:pt x="1900565" y="463252"/>
                </a:lnTo>
                <a:lnTo>
                  <a:pt x="1942171" y="459058"/>
                </a:lnTo>
                <a:cubicBezTo>
                  <a:pt x="2197242" y="459058"/>
                  <a:pt x="2404018" y="665834"/>
                  <a:pt x="2404018" y="920905"/>
                </a:cubicBezTo>
                <a:cubicBezTo>
                  <a:pt x="2404018" y="1175976"/>
                  <a:pt x="2197242" y="1382752"/>
                  <a:pt x="1942171" y="1382752"/>
                </a:cubicBezTo>
                <a:lnTo>
                  <a:pt x="1942161" y="1382751"/>
                </a:lnTo>
                <a:lnTo>
                  <a:pt x="1250806" y="1382751"/>
                </a:lnTo>
                <a:lnTo>
                  <a:pt x="1250796" y="1382752"/>
                </a:lnTo>
                <a:lnTo>
                  <a:pt x="1250786" y="1382751"/>
                </a:lnTo>
                <a:lnTo>
                  <a:pt x="559430" y="1382751"/>
                </a:lnTo>
                <a:lnTo>
                  <a:pt x="559420" y="1382752"/>
                </a:lnTo>
                <a:cubicBezTo>
                  <a:pt x="250461" y="1382752"/>
                  <a:pt x="0" y="1132291"/>
                  <a:pt x="0" y="823332"/>
                </a:cubicBezTo>
                <a:cubicBezTo>
                  <a:pt x="0" y="514373"/>
                  <a:pt x="250461" y="263912"/>
                  <a:pt x="559420" y="263912"/>
                </a:cubicBezTo>
                <a:cubicBezTo>
                  <a:pt x="598040" y="263912"/>
                  <a:pt x="635746" y="267825"/>
                  <a:pt x="672163" y="275277"/>
                </a:cubicBezTo>
                <a:lnTo>
                  <a:pt x="695815" y="282619"/>
                </a:lnTo>
                <a:lnTo>
                  <a:pt x="761920" y="202499"/>
                </a:lnTo>
                <a:cubicBezTo>
                  <a:pt x="887034" y="77385"/>
                  <a:pt x="1059878" y="0"/>
                  <a:pt x="1250796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tIns="64800" bIns="0" rtlCol="0" anchor="ctr">
            <a:noAutofit/>
          </a:bodyPr>
          <a:lstStyle/>
          <a:p>
            <a:pPr algn="ctr"/>
            <a:r>
              <a:rPr lang="ko-KR" altLang="en-US" sz="9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카카오맵</a:t>
            </a:r>
            <a:endParaRPr lang="en-US" altLang="ko-KR" sz="900" b="1" dirty="0">
              <a:solidFill>
                <a:schemeClr val="tx1">
                  <a:lumMod val="85000"/>
                  <a:lumOff val="15000"/>
                </a:schemeClr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  <a:p>
            <a:pPr algn="ctr"/>
            <a:r>
              <a:rPr lang="ko-KR" altLang="en-US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로컬 </a:t>
            </a:r>
            <a:r>
              <a:rPr lang="en-US" altLang="ko-KR" sz="9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REST API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CF9F14D6-92EF-F7E4-BF4E-ED4EAE852AF7}"/>
              </a:ext>
            </a:extLst>
          </p:cNvPr>
          <p:cNvSpPr/>
          <p:nvPr/>
        </p:nvSpPr>
        <p:spPr>
          <a:xfrm>
            <a:off x="801028" y="2263789"/>
            <a:ext cx="1199220" cy="1595935"/>
          </a:xfrm>
          <a:prstGeom prst="roundRect">
            <a:avLst>
              <a:gd name="adj" fmla="val 8014"/>
            </a:avLst>
          </a:prstGeom>
          <a:solidFill>
            <a:schemeClr val="bg1">
              <a:lumMod val="95000"/>
            </a:schemeClr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tIns="64800" bIns="0" rtlCol="0" anchor="t">
            <a:noAutofit/>
          </a:bodyPr>
          <a:lstStyle/>
          <a:p>
            <a:r>
              <a:rPr lang="en-US" sz="9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HangJeongDong</a:t>
            </a:r>
            <a:endParaRPr lang="en-KR" sz="900" b="1" dirty="0">
              <a:solidFill>
                <a:schemeClr val="tx1">
                  <a:lumMod val="85000"/>
                  <a:lumOff val="15000"/>
                </a:schemeClr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38843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541</TotalTime>
  <Words>1380</Words>
  <Application>Microsoft Macintosh PowerPoint</Application>
  <PresentationFormat>A4 Paper (210x297 mm)</PresentationFormat>
  <Paragraphs>126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Pretendard</vt:lpstr>
      <vt:lpstr>Aptos Display</vt:lpstr>
      <vt:lpstr>Aptos</vt:lpstr>
      <vt:lpstr>Cascadia Code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김도균</dc:creator>
  <cp:lastModifiedBy>김도균</cp:lastModifiedBy>
  <cp:revision>31</cp:revision>
  <dcterms:created xsi:type="dcterms:W3CDTF">2025-10-22T06:46:32Z</dcterms:created>
  <dcterms:modified xsi:type="dcterms:W3CDTF">2025-10-27T02:31:08Z</dcterms:modified>
</cp:coreProperties>
</file>