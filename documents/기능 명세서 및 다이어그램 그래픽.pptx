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embeddedFontLst>
    <p:embeddedFont>
      <p:font typeface="Pretendard" panose="02000503000000020004" pitchFamily="2" charset="-127"/>
      <p:regular r:id="rId4"/>
      <p:bold r:id="rId5"/>
    </p:embeddedFont>
    <p:embeddedFont>
      <p:font typeface="Cascadia Code" panose="020B0609020000020004" pitchFamily="34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ADB"/>
    <a:srgbClr val="FFC0C1"/>
    <a:srgbClr val="FFECB2"/>
    <a:srgbClr val="44B29C"/>
    <a:srgbClr val="4DC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6"/>
    <p:restoredTop sz="94643"/>
  </p:normalViewPr>
  <p:slideViewPr>
    <p:cSldViewPr snapToGrid="0">
      <p:cViewPr>
        <p:scale>
          <a:sx n="143" d="100"/>
          <a:sy n="143" d="100"/>
        </p:scale>
        <p:origin x="154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8600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5816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4708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5556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70842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7669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3856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7859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7352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85034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7637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F496E-1423-0F43-9D3A-7484EF9BE24D}" type="datetimeFigureOut">
              <a:rPr lang="en-KR" smtClean="0"/>
              <a:t>10/22/25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5AB8B-8C34-C042-9E7D-899000BBE8A4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0656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CCB5D2-3AE2-B06B-8E68-7711B2656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572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46800" rIns="90000" bIns="90000" numCol="1" rtlCol="0" anchor="b"/>
          <a:lstStyle/>
          <a:p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./main/</a:t>
            </a:r>
            <a:r>
              <a:rPr lang="en-US" altLang="ko-KR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models.py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HangJeongDong</a:t>
            </a:r>
            <a:endParaRPr lang="en-US" altLang="ko-KR" sz="12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9A734-389E-4F3E-8E98-C6F629B9EB18}"/>
              </a:ext>
            </a:extLst>
          </p:cNvPr>
          <p:cNvSpPr>
            <a:spLocks/>
          </p:cNvSpPr>
          <p:nvPr/>
        </p:nvSpPr>
        <p:spPr>
          <a:xfrm>
            <a:off x="4572000" y="0"/>
            <a:ext cx="4572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180000" bIns="90000" numCol="1" rtlCol="0" anchor="b"/>
          <a:lstStyle/>
          <a:p>
            <a:pPr algn="r"/>
            <a:r>
              <a:rPr lang="en-US" altLang="ko-KR" sz="1200" b="1" dirty="0" err="1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seoulbusmap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프로젝트에 사용될 데이터 구조</a:t>
            </a: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(=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</a:t>
            </a: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정의</a:t>
            </a:r>
            <a:endParaRPr lang="en-US" altLang="ko-KR" sz="12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1E0BF-5522-7012-88A3-03BC119EE160}"/>
              </a:ext>
            </a:extLst>
          </p:cNvPr>
          <p:cNvSpPr txBox="1"/>
          <p:nvPr/>
        </p:nvSpPr>
        <p:spPr>
          <a:xfrm>
            <a:off x="2880764" y="1086998"/>
            <a:ext cx="5992462" cy="91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행정동별 인구 수에 대비한 데이터 분석 결과를 도출하기 위해 받아오는 데이터입니다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자주 큰 폭으로 바뀌는 데이터는 아니지만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어느 정도 시기에 따른 정확도는 필요한 데이터라고 판단하였습니다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장기적 관점에서 이뤄지는 교통 정책에 대응할 수 있도록 비교적 넓은 간격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달 등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으로라도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데이터를 새로 받아 최신화 할 소요가 있습니다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6512E5-53CA-8E05-D169-2A38C9DC76B3}"/>
              </a:ext>
            </a:extLst>
          </p:cNvPr>
          <p:cNvSpPr/>
          <p:nvPr/>
        </p:nvSpPr>
        <p:spPr>
          <a:xfrm>
            <a:off x="270770" y="810001"/>
            <a:ext cx="2339998" cy="5779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0ED77-6BAE-4FAF-B0B5-B57A6084411E}"/>
              </a:ext>
            </a:extLst>
          </p:cNvPr>
          <p:cNvSpPr/>
          <p:nvPr/>
        </p:nvSpPr>
        <p:spPr>
          <a:xfrm>
            <a:off x="270769" y="810000"/>
            <a:ext cx="2339999" cy="946754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92B4A-C072-7470-10A2-AF5A583EC917}"/>
              </a:ext>
            </a:extLst>
          </p:cNvPr>
          <p:cNvSpPr txBox="1"/>
          <p:nvPr/>
        </p:nvSpPr>
        <p:spPr>
          <a:xfrm>
            <a:off x="270768" y="809998"/>
            <a:ext cx="2339996" cy="412590"/>
          </a:xfrm>
          <a:prstGeom prst="rect">
            <a:avLst/>
          </a:prstGeom>
          <a:noFill/>
        </p:spPr>
        <p:txBody>
          <a:bodyPr wrap="square" lIns="180000" tIns="180000" rIns="90000" bIns="46800" rtlCol="0">
            <a:spAutoFit/>
          </a:bodyPr>
          <a:lstStyle/>
          <a:p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HangJeongDong</a:t>
            </a:r>
            <a:endParaRPr lang="en-KR" sz="1100" b="1" dirty="0">
              <a:solidFill>
                <a:schemeClr val="tx1">
                  <a:lumMod val="85000"/>
                  <a:lumOff val="15000"/>
                </a:schemeClr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5514A5-DD80-8BBE-92EF-CE04221BDAD5}"/>
              </a:ext>
            </a:extLst>
          </p:cNvPr>
          <p:cNvSpPr txBox="1"/>
          <p:nvPr/>
        </p:nvSpPr>
        <p:spPr>
          <a:xfrm>
            <a:off x="270767" y="1222588"/>
            <a:ext cx="2339997" cy="430887"/>
          </a:xfrm>
          <a:prstGeom prst="rect">
            <a:avLst/>
          </a:prstGeom>
          <a:noFill/>
        </p:spPr>
        <p:txBody>
          <a:bodyPr wrap="square" lIns="180000" rIns="90000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서울시 행정동명과</a:t>
            </a:r>
            <a:endParaRPr lang="en-US" altLang="ko-KR" sz="11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거주 인구 수를 저장하는 모델</a:t>
            </a:r>
            <a:endParaRPr lang="en-KR" sz="11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A20441-D22D-7EF1-BC0D-40EF352A579F}"/>
              </a:ext>
            </a:extLst>
          </p:cNvPr>
          <p:cNvSpPr/>
          <p:nvPr/>
        </p:nvSpPr>
        <p:spPr>
          <a:xfrm>
            <a:off x="270768" y="810000"/>
            <a:ext cx="2340000" cy="5779058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E9DD01-6414-3C61-4F76-AB9DFC5977F7}"/>
              </a:ext>
            </a:extLst>
          </p:cNvPr>
          <p:cNvSpPr txBox="1"/>
          <p:nvPr/>
        </p:nvSpPr>
        <p:spPr>
          <a:xfrm>
            <a:off x="2880764" y="80999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수집 목적 및 사용 방안</a:t>
            </a:r>
            <a:endParaRPr lang="en-US" altLang="ko-KR" sz="11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E2F618-A2D2-4B24-C85B-616E8697A395}"/>
              </a:ext>
            </a:extLst>
          </p:cNvPr>
          <p:cNvSpPr txBox="1"/>
          <p:nvPr/>
        </p:nvSpPr>
        <p:spPr>
          <a:xfrm>
            <a:off x="2880764" y="3329151"/>
            <a:ext cx="5992462" cy="708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서울 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열린데이터광장에서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제공하는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서울시 상권분석서비스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영역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행정동 식별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그에 대응하는 한글 행정동명을 받아오고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같은 출처에서 제공하는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 단위 서울 생활인구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)’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API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행정동 식별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 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생활인구수를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받아옵니다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90235C-215F-ED07-398D-CED102070F02}"/>
              </a:ext>
            </a:extLst>
          </p:cNvPr>
          <p:cNvSpPr txBox="1"/>
          <p:nvPr/>
        </p:nvSpPr>
        <p:spPr>
          <a:xfrm>
            <a:off x="2880764" y="3067541"/>
            <a:ext cx="13773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 출처와 저장 절차</a:t>
            </a:r>
            <a:endParaRPr lang="en-US" altLang="ko-KR" sz="11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16FE584-5FA2-145F-5DE0-2D2CF94C18C8}"/>
              </a:ext>
            </a:extLst>
          </p:cNvPr>
          <p:cNvGrpSpPr/>
          <p:nvPr/>
        </p:nvGrpSpPr>
        <p:grpSpPr>
          <a:xfrm>
            <a:off x="408167" y="1844503"/>
            <a:ext cx="2055302" cy="1018906"/>
            <a:chOff x="408167" y="1844503"/>
            <a:chExt cx="2055302" cy="101890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35CE279-F647-EC91-5BBB-5D1B97E5C739}"/>
                </a:ext>
              </a:extLst>
            </p:cNvPr>
            <p:cNvSpPr/>
            <p:nvPr/>
          </p:nvSpPr>
          <p:spPr>
            <a:xfrm flipH="1">
              <a:off x="411469" y="1846752"/>
              <a:ext cx="2052000" cy="1016657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E43EDB-05D1-CB58-0B1C-2C02C83FEFC4}"/>
                </a:ext>
              </a:extLst>
            </p:cNvPr>
            <p:cNvSpPr txBox="1"/>
            <p:nvPr/>
          </p:nvSpPr>
          <p:spPr>
            <a:xfrm>
              <a:off x="408168" y="1849564"/>
              <a:ext cx="1186486" cy="476690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r>
                <a:rPr lang="en-US" sz="11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district_id</a:t>
              </a:r>
              <a:endPara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endParaRPr>
            </a:p>
            <a:p>
              <a:r>
                <a:rPr lang="en-KR" sz="1100" b="1" dirty="0">
                  <a:solidFill>
                    <a:srgbClr val="44B29C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CharField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816F7D-E548-DDA2-DB1D-473DB280246C}"/>
                </a:ext>
              </a:extLst>
            </p:cNvPr>
            <p:cNvSpPr txBox="1"/>
            <p:nvPr/>
          </p:nvSpPr>
          <p:spPr>
            <a:xfrm>
              <a:off x="408167" y="2357032"/>
              <a:ext cx="2055301" cy="475600"/>
            </a:xfrm>
            <a:prstGeom prst="rect">
              <a:avLst/>
            </a:prstGeom>
            <a:noFill/>
          </p:spPr>
          <p:txBody>
            <a:bodyPr wrap="square" lIns="90000" rIns="90000" bIns="90000" rtlCol="0">
              <a:spAutoFit/>
            </a:bodyPr>
            <a:lstStyle/>
            <a:p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하나의 행정동 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ID.</a:t>
              </a:r>
            </a:p>
            <a:p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최대 길이 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중복 불가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DBB6199-3213-1A97-600F-5D7542064A73}"/>
                </a:ext>
              </a:extLst>
            </p:cNvPr>
            <p:cNvSpPr txBox="1"/>
            <p:nvPr/>
          </p:nvSpPr>
          <p:spPr>
            <a:xfrm>
              <a:off x="1457257" y="1844503"/>
              <a:ext cx="1006212" cy="307413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pPr algn="r"/>
              <a:r>
                <a:rPr lang="en-US" altLang="ko-KR" sz="11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“11590605”</a:t>
              </a:r>
              <a:endParaRPr lang="en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3105065-44AE-069B-DCEA-69B2C0016580}"/>
              </a:ext>
            </a:extLst>
          </p:cNvPr>
          <p:cNvGrpSpPr/>
          <p:nvPr/>
        </p:nvGrpSpPr>
        <p:grpSpPr>
          <a:xfrm>
            <a:off x="408168" y="4168068"/>
            <a:ext cx="2055301" cy="1016657"/>
            <a:chOff x="408168" y="3007410"/>
            <a:chExt cx="2055301" cy="101665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03176D8-6112-8B55-1E68-A9270A894083}"/>
                </a:ext>
              </a:extLst>
            </p:cNvPr>
            <p:cNvSpPr/>
            <p:nvPr/>
          </p:nvSpPr>
          <p:spPr>
            <a:xfrm flipH="1">
              <a:off x="411469" y="3007410"/>
              <a:ext cx="2052000" cy="1016657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7273659-5580-0AF4-3BDB-02F642316F24}"/>
                </a:ext>
              </a:extLst>
            </p:cNvPr>
            <p:cNvSpPr txBox="1"/>
            <p:nvPr/>
          </p:nvSpPr>
          <p:spPr>
            <a:xfrm>
              <a:off x="408168" y="3010222"/>
              <a:ext cx="1318394" cy="476690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r>
                <a:rPr lang="en-US" sz="11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population</a:t>
              </a:r>
            </a:p>
            <a:p>
              <a:r>
                <a:rPr lang="en-KR" sz="1100" b="1" dirty="0">
                  <a:solidFill>
                    <a:srgbClr val="44B29C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IntegerField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7D2028F-413A-AF2D-90AE-04DB4E53413E}"/>
                </a:ext>
              </a:extLst>
            </p:cNvPr>
            <p:cNvSpPr txBox="1"/>
            <p:nvPr/>
          </p:nvSpPr>
          <p:spPr>
            <a:xfrm>
              <a:off x="411468" y="3517690"/>
              <a:ext cx="2052000" cy="475600"/>
            </a:xfrm>
            <a:prstGeom prst="rect">
              <a:avLst/>
            </a:prstGeom>
            <a:noFill/>
          </p:spPr>
          <p:txBody>
            <a:bodyPr wrap="square" lIns="90000" rIns="90000" bIns="90000" rtlCol="0">
              <a:spAutoFit/>
            </a:bodyPr>
            <a:lstStyle/>
            <a:p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하나의 행정동 총 생활 인구 수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빈 값 가능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04208E3-CDCF-DE70-ECAE-4E88ED564440}"/>
                </a:ext>
              </a:extLst>
            </p:cNvPr>
            <p:cNvSpPr txBox="1"/>
            <p:nvPr/>
          </p:nvSpPr>
          <p:spPr>
            <a:xfrm>
              <a:off x="1594655" y="3013988"/>
              <a:ext cx="868813" cy="307413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pPr algn="r"/>
              <a:r>
                <a:rPr lang="en-US" altLang="ko-KR" sz="11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33201</a:t>
              </a:r>
              <a:endParaRPr lang="en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1FCC2F1-12CB-FF56-34D8-F30A6BE2566E}"/>
              </a:ext>
            </a:extLst>
          </p:cNvPr>
          <p:cNvGrpSpPr/>
          <p:nvPr/>
        </p:nvGrpSpPr>
        <p:grpSpPr>
          <a:xfrm>
            <a:off x="408166" y="3005161"/>
            <a:ext cx="2055302" cy="1018906"/>
            <a:chOff x="408167" y="1844503"/>
            <a:chExt cx="2055302" cy="1018906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C7480DB-3C56-EADD-3470-20720274629F}"/>
                </a:ext>
              </a:extLst>
            </p:cNvPr>
            <p:cNvSpPr/>
            <p:nvPr/>
          </p:nvSpPr>
          <p:spPr>
            <a:xfrm flipH="1">
              <a:off x="411469" y="1846752"/>
              <a:ext cx="2052000" cy="1016657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7060861-5E3B-23FA-B62F-DDCADCAF8B6E}"/>
                </a:ext>
              </a:extLst>
            </p:cNvPr>
            <p:cNvSpPr txBox="1"/>
            <p:nvPr/>
          </p:nvSpPr>
          <p:spPr>
            <a:xfrm>
              <a:off x="408168" y="1849564"/>
              <a:ext cx="1049089" cy="476690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r>
                <a:rPr lang="en-US" sz="11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name</a:t>
              </a:r>
            </a:p>
            <a:p>
              <a:r>
                <a:rPr lang="en-KR" sz="1100" b="1" dirty="0">
                  <a:solidFill>
                    <a:srgbClr val="44B29C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CharField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A07D5C8-C1F1-9130-6DA3-3E1DF486FAFE}"/>
                </a:ext>
              </a:extLst>
            </p:cNvPr>
            <p:cNvSpPr txBox="1"/>
            <p:nvPr/>
          </p:nvSpPr>
          <p:spPr>
            <a:xfrm>
              <a:off x="408167" y="2357032"/>
              <a:ext cx="2055301" cy="475600"/>
            </a:xfrm>
            <a:prstGeom prst="rect">
              <a:avLst/>
            </a:prstGeom>
            <a:noFill/>
          </p:spPr>
          <p:txBody>
            <a:bodyPr wrap="square" lIns="90000" rIns="90000" bIns="90000" rtlCol="0">
              <a:spAutoFit/>
            </a:bodyPr>
            <a:lstStyle/>
            <a:p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하나의 행정동 이름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최대 길이 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100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중복 불가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18843F-1A2A-99A8-69F2-E1CAC72CA659}"/>
                </a:ext>
              </a:extLst>
            </p:cNvPr>
            <p:cNvSpPr txBox="1"/>
            <p:nvPr/>
          </p:nvSpPr>
          <p:spPr>
            <a:xfrm>
              <a:off x="1594655" y="1844503"/>
              <a:ext cx="868813" cy="307413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pPr algn="r"/>
              <a:r>
                <a:rPr lang="en-US" altLang="ko-KR" sz="11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“</a:t>
              </a:r>
              <a:r>
                <a:rPr lang="ko-KR" altLang="en-US" sz="11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흑석동</a:t>
              </a:r>
              <a:r>
                <a:rPr lang="en-US" altLang="ko-KR" sz="11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”</a:t>
              </a:r>
              <a:endParaRPr lang="en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85FFFE18-177A-BBDF-2184-77195B1B858F}"/>
              </a:ext>
            </a:extLst>
          </p:cNvPr>
          <p:cNvSpPr txBox="1"/>
          <p:nvPr/>
        </p:nvSpPr>
        <p:spPr>
          <a:xfrm>
            <a:off x="2880764" y="4037550"/>
            <a:ext cx="5992462" cy="2612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en-US" altLang="ko-KR" sz="1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fetch_hangjeongdong_data.py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API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요청과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DB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저장을 관리합니다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 단위 서울 생활인구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에서는 식별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생활인구수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관련 데이터만 제공하기 때문에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부득이 두 가지의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요청 결과를 조합하여 사용하는 형태로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DB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저장하는 구조를 취하게 되었습니다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우선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서울시 상권분석서비스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영역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현재 존재하는 행정동의 식별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그에 대응하는 한글명을 받아옵니다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그런 다음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 단위 서울 생활인구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에서 행정동의 식별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 평균 인구수를 받아옵니다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해당 데이터는 매일 최신화가 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명세되어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있지만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조회 시간에 따라 해당 날짜의 최신 데이터가 아직 올라오지 않는 경우가 있었습니다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그래서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현재 날짜로부터 과거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일간의 데이터 존재 여부를 확인하고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데이터가 있는 가장 최근 날짜의 정보를 받아옵니다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해당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에서는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 시간별로 인구 수 데이터를 개별적으로 제공하기 때문에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취합을 위해 하루 간의 평균 인구수를 계산하여 최종적으로 해당 데이터를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DB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저장하게 됩니다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×  400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 곳의 행정동 정보를 받아오기 때문에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 건이 넘는 자료의 요청을 보내야 하지만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서울시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에서는 한 번에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까지의 요청만 접수하였습니다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그래서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자체적으로 제공해 주는 전체 데이터 개수를 파악한 후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페이지네이션을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통해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건씩 나누어 요청을 보내는 식으로 처리하였습니다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6E09DA-8F5A-FE46-0B0D-3E58450E9F0D}"/>
              </a:ext>
            </a:extLst>
          </p:cNvPr>
          <p:cNvSpPr txBox="1"/>
          <p:nvPr/>
        </p:nvSpPr>
        <p:spPr>
          <a:xfrm>
            <a:off x="2880764" y="2006993"/>
            <a:ext cx="5992462" cy="69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9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district_id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행정동별 데이터의 구분을 위한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ID</a:t>
            </a:r>
            <a:r>
              <a:rPr lang="ko-KR" altLang="en-US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담은 데이터입니다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name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사용자에게 데이터를 출력할 때를 고려하여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행정동별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ID</a:t>
            </a:r>
            <a:r>
              <a:rPr lang="ko-KR" altLang="en-US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따른 행정동 한글명을 담은 데이터입니다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population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인구 수에 대비한 분석을 위해 모으는 인구 수를 담은 데이터입니다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6B929E-66DD-BD5C-7B90-119BF7730271}"/>
              </a:ext>
            </a:extLst>
          </p:cNvPr>
          <p:cNvCxnSpPr>
            <a:cxnSpLocks/>
          </p:cNvCxnSpPr>
          <p:nvPr/>
        </p:nvCxnSpPr>
        <p:spPr>
          <a:xfrm>
            <a:off x="2958353" y="2887688"/>
            <a:ext cx="5915651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34A49A7-C67F-6506-2E69-ECCB4488EFDA}"/>
              </a:ext>
            </a:extLst>
          </p:cNvPr>
          <p:cNvCxnSpPr>
            <a:cxnSpLocks/>
          </p:cNvCxnSpPr>
          <p:nvPr/>
        </p:nvCxnSpPr>
        <p:spPr>
          <a:xfrm>
            <a:off x="0" y="540000"/>
            <a:ext cx="9144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55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45DD2-B263-6EA6-8297-A85FF038D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65EC6D-DFBF-55BB-80E6-534C7212B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572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46800" rIns="90000" bIns="90000" numCol="1" rtlCol="0" anchor="b"/>
          <a:lstStyle/>
          <a:p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./main/</a:t>
            </a:r>
            <a:r>
              <a:rPr lang="en-US" altLang="ko-KR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models.py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r>
              <a: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BusStop</a:t>
            </a:r>
            <a:endParaRPr lang="en-US" altLang="ko-KR" sz="12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FC32CB-163B-F8ED-5A47-E212F3ED635D}"/>
              </a:ext>
            </a:extLst>
          </p:cNvPr>
          <p:cNvSpPr>
            <a:spLocks/>
          </p:cNvSpPr>
          <p:nvPr/>
        </p:nvSpPr>
        <p:spPr>
          <a:xfrm>
            <a:off x="4572000" y="0"/>
            <a:ext cx="4572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180000" bIns="90000" numCol="1" rtlCol="0" anchor="b"/>
          <a:lstStyle/>
          <a:p>
            <a:pPr algn="r"/>
            <a:r>
              <a:rPr lang="en-US" altLang="ko-KR" sz="1200" b="1" dirty="0" err="1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seoulbusmap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프로젝트에 사용될 데이터 구조</a:t>
            </a: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(=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</a:t>
            </a:r>
            <a:r>
              <a:rPr lang="en-US" altLang="ko-KR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정의</a:t>
            </a:r>
            <a:endParaRPr lang="en-US" altLang="ko-KR" sz="12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182BFF-0338-28E7-5B74-E324A80F0364}"/>
              </a:ext>
            </a:extLst>
          </p:cNvPr>
          <p:cNvSpPr/>
          <p:nvPr/>
        </p:nvSpPr>
        <p:spPr>
          <a:xfrm>
            <a:off x="270768" y="809999"/>
            <a:ext cx="4542591" cy="57790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44CD3D4-0AC2-9CFE-1C9E-09F65205809C}"/>
              </a:ext>
            </a:extLst>
          </p:cNvPr>
          <p:cNvSpPr/>
          <p:nvPr/>
        </p:nvSpPr>
        <p:spPr>
          <a:xfrm>
            <a:off x="270768" y="810000"/>
            <a:ext cx="4542590" cy="946754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E95A37-D73B-AF75-4508-172B9D440F6B}"/>
              </a:ext>
            </a:extLst>
          </p:cNvPr>
          <p:cNvSpPr txBox="1"/>
          <p:nvPr/>
        </p:nvSpPr>
        <p:spPr>
          <a:xfrm>
            <a:off x="270767" y="809998"/>
            <a:ext cx="2339996" cy="413681"/>
          </a:xfrm>
          <a:prstGeom prst="rect">
            <a:avLst/>
          </a:prstGeom>
          <a:noFill/>
        </p:spPr>
        <p:txBody>
          <a:bodyPr wrap="square" lIns="180000" tIns="180000" rIns="90000" bIns="46800" rtlCol="0">
            <a:spAutoFit/>
          </a:bodyPr>
          <a:lstStyle/>
          <a:p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BusStop</a:t>
            </a:r>
            <a:endParaRPr lang="en-KR" sz="1100" b="1" dirty="0">
              <a:solidFill>
                <a:schemeClr val="tx1">
                  <a:lumMod val="85000"/>
                  <a:lumOff val="15000"/>
                </a:schemeClr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BB6283-CD80-FA48-CC3B-183DD88FE09A}"/>
              </a:ext>
            </a:extLst>
          </p:cNvPr>
          <p:cNvSpPr txBox="1"/>
          <p:nvPr/>
        </p:nvSpPr>
        <p:spPr>
          <a:xfrm>
            <a:off x="270767" y="1222588"/>
            <a:ext cx="4542589" cy="261610"/>
          </a:xfrm>
          <a:prstGeom prst="rect">
            <a:avLst/>
          </a:prstGeom>
          <a:noFill/>
        </p:spPr>
        <p:txBody>
          <a:bodyPr wrap="square" lIns="180000" rIns="90000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 정류장의 기본 정보를 저장하는 모델</a:t>
            </a:r>
            <a:endParaRPr lang="en-US" altLang="ko-KR" sz="11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17A312-0E2C-F245-ECF0-2257854FB5F0}"/>
              </a:ext>
            </a:extLst>
          </p:cNvPr>
          <p:cNvSpPr/>
          <p:nvPr/>
        </p:nvSpPr>
        <p:spPr>
          <a:xfrm flipH="1">
            <a:off x="411468" y="1846753"/>
            <a:ext cx="2048400" cy="1015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F5E0ED-1FAA-D6E8-F1D0-6968387C510E}"/>
              </a:ext>
            </a:extLst>
          </p:cNvPr>
          <p:cNvSpPr/>
          <p:nvPr/>
        </p:nvSpPr>
        <p:spPr>
          <a:xfrm>
            <a:off x="270767" y="809999"/>
            <a:ext cx="4542591" cy="5779051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2AA170-A100-DEEE-FA53-E38CE3B55D53}"/>
              </a:ext>
            </a:extLst>
          </p:cNvPr>
          <p:cNvSpPr txBox="1"/>
          <p:nvPr/>
        </p:nvSpPr>
        <p:spPr>
          <a:xfrm>
            <a:off x="408167" y="1849564"/>
            <a:ext cx="1049089" cy="476690"/>
          </a:xfrm>
          <a:prstGeom prst="rect">
            <a:avLst/>
          </a:prstGeom>
          <a:noFill/>
        </p:spPr>
        <p:txBody>
          <a:bodyPr wrap="square" lIns="90000" tIns="90000" rIns="90000" bIns="46800" rtlCol="0">
            <a:spAutoFit/>
          </a:bodyPr>
          <a:lstStyle/>
          <a:p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busstop_id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  <a:p>
            <a:r>
              <a:rPr lang="en-KR" sz="1100" b="1" dirty="0">
                <a:solidFill>
                  <a:srgbClr val="44B29C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CharField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DA177D-E2C0-CA5A-98A3-F3E2D43EFD39}"/>
              </a:ext>
            </a:extLst>
          </p:cNvPr>
          <p:cNvSpPr txBox="1"/>
          <p:nvPr/>
        </p:nvSpPr>
        <p:spPr>
          <a:xfrm>
            <a:off x="408166" y="2357032"/>
            <a:ext cx="2055301" cy="475600"/>
          </a:xfrm>
          <a:prstGeom prst="rect">
            <a:avLst/>
          </a:prstGeom>
          <a:noFill/>
        </p:spPr>
        <p:txBody>
          <a:bodyPr wrap="square" lIns="90000" rIns="90000" bIns="90000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정류장 고유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ID.</a:t>
            </a:r>
          </a:p>
          <a:p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길이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중복 불가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KR" sz="11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A79D3A-54D7-B58D-8622-0205C49CA9E4}"/>
              </a:ext>
            </a:extLst>
          </p:cNvPr>
          <p:cNvSpPr/>
          <p:nvPr/>
        </p:nvSpPr>
        <p:spPr>
          <a:xfrm flipH="1">
            <a:off x="411468" y="3000813"/>
            <a:ext cx="2052000" cy="1015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1B2B51-EC34-7204-1E52-DB43F21DDB11}"/>
              </a:ext>
            </a:extLst>
          </p:cNvPr>
          <p:cNvSpPr txBox="1"/>
          <p:nvPr/>
        </p:nvSpPr>
        <p:spPr>
          <a:xfrm>
            <a:off x="408167" y="3003624"/>
            <a:ext cx="1318394" cy="476690"/>
          </a:xfrm>
          <a:prstGeom prst="rect">
            <a:avLst/>
          </a:prstGeom>
          <a:noFill/>
        </p:spPr>
        <p:txBody>
          <a:bodyPr wrap="square" lIns="90000" tIns="90000" rIns="90000" bIns="46800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name</a:t>
            </a:r>
          </a:p>
          <a:p>
            <a:r>
              <a:rPr lang="en-KR" sz="1100" b="1" dirty="0">
                <a:solidFill>
                  <a:srgbClr val="44B29C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CharField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B7B3F8-144E-9D25-4A8D-B077687E4630}"/>
              </a:ext>
            </a:extLst>
          </p:cNvPr>
          <p:cNvSpPr txBox="1"/>
          <p:nvPr/>
        </p:nvSpPr>
        <p:spPr>
          <a:xfrm>
            <a:off x="411467" y="3511092"/>
            <a:ext cx="2052000" cy="475600"/>
          </a:xfrm>
          <a:prstGeom prst="rect">
            <a:avLst/>
          </a:prstGeom>
          <a:noFill/>
        </p:spPr>
        <p:txBody>
          <a:bodyPr wrap="square" lIns="90000" rIns="90000" bIns="90000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정류장 고유의 이름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길이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KR" sz="11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2D44AA-8271-4A9D-AC62-FD336F8C95FC}"/>
              </a:ext>
            </a:extLst>
          </p:cNvPr>
          <p:cNvSpPr/>
          <p:nvPr/>
        </p:nvSpPr>
        <p:spPr>
          <a:xfrm flipH="1">
            <a:off x="408166" y="4166805"/>
            <a:ext cx="2052000" cy="1015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E13BC-EE5F-B791-0F87-B059DC0BBB8F}"/>
              </a:ext>
            </a:extLst>
          </p:cNvPr>
          <p:cNvSpPr txBox="1"/>
          <p:nvPr/>
        </p:nvSpPr>
        <p:spPr>
          <a:xfrm>
            <a:off x="404865" y="4169616"/>
            <a:ext cx="1318394" cy="476690"/>
          </a:xfrm>
          <a:prstGeom prst="rect">
            <a:avLst/>
          </a:prstGeom>
          <a:noFill/>
        </p:spPr>
        <p:txBody>
          <a:bodyPr wrap="square" lIns="90000" tIns="90000" rIns="90000" bIns="46800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longitude</a:t>
            </a:r>
          </a:p>
          <a:p>
            <a:r>
              <a:rPr lang="en-KR" sz="1100" b="1" dirty="0">
                <a:solidFill>
                  <a:srgbClr val="44B29C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DecimalField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EE828-0F70-1C29-FD05-C9C4EB0EA3C1}"/>
              </a:ext>
            </a:extLst>
          </p:cNvPr>
          <p:cNvSpPr txBox="1"/>
          <p:nvPr/>
        </p:nvSpPr>
        <p:spPr>
          <a:xfrm>
            <a:off x="408165" y="4677084"/>
            <a:ext cx="2052000" cy="475600"/>
          </a:xfrm>
          <a:prstGeom prst="rect">
            <a:avLst/>
          </a:prstGeom>
          <a:noFill/>
        </p:spPr>
        <p:txBody>
          <a:bodyPr wrap="square" lIns="90000" rIns="90000" bIns="90000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정류장의 지도상 경도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길이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 중 소수점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KR" sz="11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588208-1E11-AF1A-807C-340920E0D34A}"/>
              </a:ext>
            </a:extLst>
          </p:cNvPr>
          <p:cNvSpPr/>
          <p:nvPr/>
        </p:nvSpPr>
        <p:spPr>
          <a:xfrm flipH="1">
            <a:off x="411467" y="5330896"/>
            <a:ext cx="2052000" cy="1015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E9B90-3E83-F3EF-9525-DD86F1B2CF87}"/>
              </a:ext>
            </a:extLst>
          </p:cNvPr>
          <p:cNvSpPr txBox="1"/>
          <p:nvPr/>
        </p:nvSpPr>
        <p:spPr>
          <a:xfrm>
            <a:off x="408166" y="5333707"/>
            <a:ext cx="1318394" cy="476690"/>
          </a:xfrm>
          <a:prstGeom prst="rect">
            <a:avLst/>
          </a:prstGeom>
          <a:noFill/>
        </p:spPr>
        <p:txBody>
          <a:bodyPr wrap="square" lIns="90000" tIns="90000" rIns="90000" bIns="46800" rtlCol="0">
            <a:spAutoFit/>
          </a:bodyPr>
          <a:lstStyle/>
          <a:p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latitude</a:t>
            </a:r>
          </a:p>
          <a:p>
            <a:r>
              <a:rPr lang="en-KR" sz="1100" b="1" dirty="0">
                <a:solidFill>
                  <a:srgbClr val="44B29C"/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DecimalField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551FC8-116B-A646-0D1A-B00E6C70F888}"/>
              </a:ext>
            </a:extLst>
          </p:cNvPr>
          <p:cNvSpPr txBox="1"/>
          <p:nvPr/>
        </p:nvSpPr>
        <p:spPr>
          <a:xfrm>
            <a:off x="411466" y="5841175"/>
            <a:ext cx="2052000" cy="475600"/>
          </a:xfrm>
          <a:prstGeom prst="rect">
            <a:avLst/>
          </a:prstGeom>
          <a:noFill/>
        </p:spPr>
        <p:txBody>
          <a:bodyPr wrap="square" lIns="90000" rIns="90000" bIns="90000" rtlCol="0">
            <a:spAutoFit/>
          </a:bodyPr>
          <a:lstStyle/>
          <a:p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정류장의 지도상 위도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길이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 중 소수점 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</a:t>
            </a: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KR" sz="1100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DE3E92-FBF2-F829-B3EC-B90FFC0B4F27}"/>
              </a:ext>
            </a:extLst>
          </p:cNvPr>
          <p:cNvGrpSpPr/>
          <p:nvPr/>
        </p:nvGrpSpPr>
        <p:grpSpPr>
          <a:xfrm>
            <a:off x="2610761" y="1844503"/>
            <a:ext cx="2055301" cy="1017450"/>
            <a:chOff x="408167" y="1844503"/>
            <a:chExt cx="2055301" cy="101745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4AF4593-BE2D-945D-EFD3-C5FD378CE935}"/>
                </a:ext>
              </a:extLst>
            </p:cNvPr>
            <p:cNvSpPr/>
            <p:nvPr/>
          </p:nvSpPr>
          <p:spPr>
            <a:xfrm flipH="1">
              <a:off x="411469" y="1846753"/>
              <a:ext cx="2048400" cy="1015200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AE1420E-819E-1F62-43A0-7F458379970C}"/>
                </a:ext>
              </a:extLst>
            </p:cNvPr>
            <p:cNvSpPr txBox="1"/>
            <p:nvPr/>
          </p:nvSpPr>
          <p:spPr>
            <a:xfrm>
              <a:off x="408168" y="1849564"/>
              <a:ext cx="1186486" cy="476690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r>
                <a:rPr lang="en-US" sz="11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district_id</a:t>
              </a:r>
              <a:endPara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endParaRPr>
            </a:p>
            <a:p>
              <a:r>
                <a:rPr lang="en-KR" sz="1100" b="1" dirty="0">
                  <a:solidFill>
                    <a:srgbClr val="44B29C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CharField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50CC025-93DB-78FB-6845-D80BA66B22EF}"/>
                </a:ext>
              </a:extLst>
            </p:cNvPr>
            <p:cNvSpPr txBox="1"/>
            <p:nvPr/>
          </p:nvSpPr>
          <p:spPr>
            <a:xfrm>
              <a:off x="408167" y="2357032"/>
              <a:ext cx="2055301" cy="475600"/>
            </a:xfrm>
            <a:prstGeom prst="rect">
              <a:avLst/>
            </a:prstGeom>
            <a:noFill/>
          </p:spPr>
          <p:txBody>
            <a:bodyPr wrap="square" lIns="90000" rIns="90000" bIns="90000" rtlCol="0">
              <a:spAutoFit/>
            </a:bodyPr>
            <a:lstStyle/>
            <a:p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정류장이 속한 행정동 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ID.</a:t>
              </a:r>
            </a:p>
            <a:p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최대 길이 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빈 값 가능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6A180C4-A911-88F4-E39C-C68D223F626C}"/>
                </a:ext>
              </a:extLst>
            </p:cNvPr>
            <p:cNvSpPr txBox="1"/>
            <p:nvPr/>
          </p:nvSpPr>
          <p:spPr>
            <a:xfrm>
              <a:off x="1594655" y="1844503"/>
              <a:ext cx="868813" cy="307413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pPr algn="r"/>
              <a:r>
                <a:rPr lang="en-US" altLang="ko-KR" sz="11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“</a:t>
              </a:r>
              <a:r>
                <a:rPr lang="ko-KR" altLang="en-US" sz="11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흑석동</a:t>
              </a:r>
              <a:r>
                <a:rPr lang="en-US" altLang="ko-KR" sz="11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”</a:t>
              </a:r>
              <a:endParaRPr lang="en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7052294-BC63-E6CC-5752-A78AA615D3AE}"/>
              </a:ext>
            </a:extLst>
          </p:cNvPr>
          <p:cNvSpPr txBox="1"/>
          <p:nvPr/>
        </p:nvSpPr>
        <p:spPr>
          <a:xfrm>
            <a:off x="1591352" y="1844503"/>
            <a:ext cx="868813" cy="307413"/>
          </a:xfrm>
          <a:prstGeom prst="rect">
            <a:avLst/>
          </a:prstGeom>
          <a:noFill/>
        </p:spPr>
        <p:txBody>
          <a:bodyPr wrap="square" lIns="90000" tIns="90000" rIns="90000" bIns="46800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“20204”</a:t>
            </a:r>
            <a:endParaRPr lang="en-KR" sz="1100" b="1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721EB9-5EB3-18F6-8AEE-0A79EB8974E3}"/>
              </a:ext>
            </a:extLst>
          </p:cNvPr>
          <p:cNvSpPr txBox="1"/>
          <p:nvPr/>
        </p:nvSpPr>
        <p:spPr>
          <a:xfrm>
            <a:off x="1141771" y="3000812"/>
            <a:ext cx="1318393" cy="307413"/>
          </a:xfrm>
          <a:prstGeom prst="rect">
            <a:avLst/>
          </a:prstGeom>
          <a:noFill/>
        </p:spPr>
        <p:txBody>
          <a:bodyPr wrap="square" lIns="90000" tIns="90000" rIns="90000" bIns="46800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“</a:t>
            </a:r>
            <a:r>
              <a:rPr lang="ko-KR" altLang="en-US" sz="1100" b="1" dirty="0" err="1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중앙대정문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endParaRPr lang="en-KR" sz="1100" b="1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7688EF-9FB8-F2BE-DF06-C3E3F689B198}"/>
              </a:ext>
            </a:extLst>
          </p:cNvPr>
          <p:cNvSpPr txBox="1"/>
          <p:nvPr/>
        </p:nvSpPr>
        <p:spPr>
          <a:xfrm>
            <a:off x="1141771" y="4166000"/>
            <a:ext cx="1318393" cy="307413"/>
          </a:xfrm>
          <a:prstGeom prst="rect">
            <a:avLst/>
          </a:prstGeom>
          <a:noFill/>
        </p:spPr>
        <p:txBody>
          <a:bodyPr wrap="square" lIns="90000" tIns="90000" rIns="90000" bIns="46800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126.9582940</a:t>
            </a:r>
            <a:endParaRPr lang="en-KR" sz="1100" b="1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3BC1B4-C54F-8099-9892-5841853F0323}"/>
              </a:ext>
            </a:extLst>
          </p:cNvPr>
          <p:cNvSpPr txBox="1"/>
          <p:nvPr/>
        </p:nvSpPr>
        <p:spPr>
          <a:xfrm>
            <a:off x="1148375" y="5329287"/>
            <a:ext cx="1318393" cy="307413"/>
          </a:xfrm>
          <a:prstGeom prst="rect">
            <a:avLst/>
          </a:prstGeom>
          <a:noFill/>
        </p:spPr>
        <p:txBody>
          <a:bodyPr wrap="square" lIns="90000" tIns="90000" rIns="90000" bIns="46800" rtlCol="0">
            <a:spAutoFit/>
          </a:bodyPr>
          <a:lstStyle/>
          <a:p>
            <a:pPr algn="r"/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37.5068110</a:t>
            </a:r>
            <a:endParaRPr lang="en-KR" sz="1100" b="1" dirty="0">
              <a:solidFill>
                <a:schemeClr val="bg1">
                  <a:lumMod val="6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BD9DE61-FB55-BA0A-0B63-39C77BC2393E}"/>
              </a:ext>
            </a:extLst>
          </p:cNvPr>
          <p:cNvGrpSpPr/>
          <p:nvPr/>
        </p:nvGrpSpPr>
        <p:grpSpPr>
          <a:xfrm>
            <a:off x="2610761" y="2998562"/>
            <a:ext cx="2055302" cy="1017448"/>
            <a:chOff x="408167" y="1844503"/>
            <a:chExt cx="2055302" cy="101744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64F2EEF-6F21-6DF7-54AE-C451ECC6BF2D}"/>
                </a:ext>
              </a:extLst>
            </p:cNvPr>
            <p:cNvSpPr/>
            <p:nvPr/>
          </p:nvSpPr>
          <p:spPr>
            <a:xfrm flipH="1">
              <a:off x="411469" y="1846752"/>
              <a:ext cx="2052000" cy="1015199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F1DD9B1-CDEB-ABD8-5921-D62FC87D2169}"/>
                </a:ext>
              </a:extLst>
            </p:cNvPr>
            <p:cNvSpPr txBox="1"/>
            <p:nvPr/>
          </p:nvSpPr>
          <p:spPr>
            <a:xfrm>
              <a:off x="408168" y="1849564"/>
              <a:ext cx="1186486" cy="476690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r>
                <a:rPr lang="en-US" sz="11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is_active</a:t>
              </a:r>
              <a:endPara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endParaRPr>
            </a:p>
            <a:p>
              <a:r>
                <a:rPr lang="en-KR" sz="1100" b="1" dirty="0">
                  <a:solidFill>
                    <a:srgbClr val="44B29C"/>
                  </a:solidFill>
                  <a:latin typeface="Cascadia Code" panose="020B0609020000020004" pitchFamily="34" charset="0"/>
                  <a:ea typeface="Cascadia Code" panose="020B0609020000020004" pitchFamily="34" charset="0"/>
                  <a:cs typeface="Cascadia Code" panose="020B0609020000020004" pitchFamily="34" charset="0"/>
                </a:rPr>
                <a:t>BooleanField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095607F-450F-CB80-025E-008ADD6AF4CC}"/>
                </a:ext>
              </a:extLst>
            </p:cNvPr>
            <p:cNvSpPr txBox="1"/>
            <p:nvPr/>
          </p:nvSpPr>
          <p:spPr>
            <a:xfrm>
              <a:off x="408167" y="2357032"/>
              <a:ext cx="2055301" cy="475600"/>
            </a:xfrm>
            <a:prstGeom prst="rect">
              <a:avLst/>
            </a:prstGeom>
            <a:noFill/>
          </p:spPr>
          <p:txBody>
            <a:bodyPr wrap="square" lIns="90000" rIns="90000" bIns="90000" rtlCol="0">
              <a:spAutoFit/>
            </a:bodyPr>
            <a:lstStyle/>
            <a:p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정류장의 활성화 여부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  <a:p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최대 길이 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빈 값 가능</a:t>
              </a:r>
              <a:r>
                <a:rPr lang="en-US" altLang="ko-KR" sz="1100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KR" sz="11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B1F2B9A-DCC8-3843-0DF7-1CE09AB05A0E}"/>
                </a:ext>
              </a:extLst>
            </p:cNvPr>
            <p:cNvSpPr txBox="1"/>
            <p:nvPr/>
          </p:nvSpPr>
          <p:spPr>
            <a:xfrm>
              <a:off x="1594655" y="1844503"/>
              <a:ext cx="868813" cy="307413"/>
            </a:xfrm>
            <a:prstGeom prst="rect">
              <a:avLst/>
            </a:prstGeom>
            <a:noFill/>
          </p:spPr>
          <p:txBody>
            <a:bodyPr wrap="square" lIns="90000" tIns="90000" rIns="90000" bIns="46800" rtlCol="0">
              <a:spAutoFit/>
            </a:bodyPr>
            <a:lstStyle/>
            <a:p>
              <a:pPr algn="r"/>
              <a:r>
                <a:rPr lang="en-US" altLang="ko-KR" sz="1100" b="1" dirty="0">
                  <a:solidFill>
                    <a:schemeClr val="bg1">
                      <a:lumMod val="6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True</a:t>
              </a:r>
              <a:endParaRPr lang="en-KR" sz="1100" b="1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0B37C69D-D3B2-93B0-25CB-4D1F06F4DDE5}"/>
              </a:ext>
            </a:extLst>
          </p:cNvPr>
          <p:cNvSpPr txBox="1"/>
          <p:nvPr/>
        </p:nvSpPr>
        <p:spPr>
          <a:xfrm>
            <a:off x="5083356" y="1086998"/>
            <a:ext cx="3789873" cy="91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버스 정류장이 어디 위치해 있는지를 받아오는 데이터입니다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행정동별 인구 수와 마찬가지로 자주 큰 폭으로 바뀌는 데이터는 아니지만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교통 정책의 변화에 따라 비교적 넓은 간격의 주기로 최신화해 줄 필요가 있는 데이터입니다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C63A2A-7155-E08A-8C39-4D98F29484F2}"/>
              </a:ext>
            </a:extLst>
          </p:cNvPr>
          <p:cNvSpPr txBox="1"/>
          <p:nvPr/>
        </p:nvSpPr>
        <p:spPr>
          <a:xfrm>
            <a:off x="5083356" y="809998"/>
            <a:ext cx="14093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수집 목적 및 사용 방안</a:t>
            </a:r>
            <a:endParaRPr lang="en-US" altLang="ko-KR" sz="11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CC2A55-3325-686F-19CC-637107DADD38}"/>
              </a:ext>
            </a:extLst>
          </p:cNvPr>
          <p:cNvSpPr txBox="1"/>
          <p:nvPr/>
        </p:nvSpPr>
        <p:spPr>
          <a:xfrm>
            <a:off x="5083356" y="4123515"/>
            <a:ext cx="3789873" cy="708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서울 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열린데이터광장에서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제공하는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서울시 버스정류소 위치정보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정류장 고유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그에 대응하는 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한글명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지도상 위치를 받아옵니다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F79019-0040-51CA-3ABC-17947975EF36}"/>
              </a:ext>
            </a:extLst>
          </p:cNvPr>
          <p:cNvSpPr txBox="1"/>
          <p:nvPr/>
        </p:nvSpPr>
        <p:spPr>
          <a:xfrm>
            <a:off x="5083356" y="3861905"/>
            <a:ext cx="13773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 출처와 저장 절차</a:t>
            </a:r>
            <a:endParaRPr lang="en-US" altLang="ko-KR" sz="1100" b="1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B3F7FC-F2D6-FFB4-2C43-646A6E02FB62}"/>
              </a:ext>
            </a:extLst>
          </p:cNvPr>
          <p:cNvSpPr txBox="1"/>
          <p:nvPr/>
        </p:nvSpPr>
        <p:spPr>
          <a:xfrm>
            <a:off x="5083356" y="4831914"/>
            <a:ext cx="3789873" cy="1766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en-US" altLang="ko-KR" sz="11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fetch_busstop_data.py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ECB2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API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요청과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DB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저장을 관리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합니다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행정동별 인구 수와 마찬가지로 만 개가 넘는 정류장의 데이터를 받아와야 하지만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한 번에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 까지의 제안이 있기에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마찬가지로 </a:t>
            </a:r>
            <a:r>
              <a:rPr lang="ko-KR" alt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페이지네이션을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활용하여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건씩 나누어 요청을 보냅니다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 정책에 따라 생겼다 사라질 수도 있는 버스 정류장이기에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DADB"/>
                </a:highlight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과거 데이터를 열람하여 시간에 따른 추이를 확인할 수 있게 하고자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en-US" altLang="ko-KR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is_active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데이터로 정류장 활성 여부를 추적하여 데이터를 삭제하지 않고 보존합니다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30B3F9-36F2-DFB8-5487-CA84C231120B}"/>
              </a:ext>
            </a:extLst>
          </p:cNvPr>
          <p:cNvSpPr txBox="1"/>
          <p:nvPr/>
        </p:nvSpPr>
        <p:spPr>
          <a:xfrm>
            <a:off x="5083356" y="2006993"/>
            <a:ext cx="3789873" cy="1314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9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busstop_id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 정류장별 데이터의 구분을 위한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ID</a:t>
            </a:r>
            <a:r>
              <a:rPr lang="ko-KR" altLang="en-US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담은 데이터입니다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name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 정류별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ID</a:t>
            </a:r>
            <a:r>
              <a:rPr lang="ko-KR" altLang="en-US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따른 한글명을 담은 데이터입니다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longitude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지도상 위치와 소속 행정동을 찾기 위한 경도 좌표 데이터입니다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latitude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지도상 위치와 소속 행정동을 찾기 위한 위도 좌표 데이터입니다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  <a:latin typeface="Cascadia Code" panose="020B0609020000020004" pitchFamily="34" charset="0"/>
              <a:ea typeface="Cascadia Code" panose="020B0609020000020004" pitchFamily="34" charset="0"/>
              <a:cs typeface="Cascadia Code" panose="020B06090200000200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9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district_id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소속 행정동별 데이터의 구분을 위한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ID</a:t>
            </a:r>
            <a:r>
              <a:rPr lang="ko-KR" altLang="en-US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담은 데이터입니다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9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scadia Code" panose="020B0609020000020004" pitchFamily="34" charset="0"/>
                <a:ea typeface="Cascadia Code" panose="020B0609020000020004" pitchFamily="34" charset="0"/>
                <a:cs typeface="Cascadia Code" panose="020B0609020000020004" pitchFamily="34" charset="0"/>
              </a:rPr>
              <a:t>is_active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 사용되고 있는 정류장인지 여부를 구분하는 데이터입니다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9310D22-F92C-F06D-9362-C6FD77CD176F}"/>
              </a:ext>
            </a:extLst>
          </p:cNvPr>
          <p:cNvCxnSpPr>
            <a:cxnSpLocks/>
          </p:cNvCxnSpPr>
          <p:nvPr/>
        </p:nvCxnSpPr>
        <p:spPr>
          <a:xfrm>
            <a:off x="5083356" y="3591905"/>
            <a:ext cx="3789873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F2E7474-7999-49D5-4FE1-D368D8C6C0A9}"/>
              </a:ext>
            </a:extLst>
          </p:cNvPr>
          <p:cNvCxnSpPr>
            <a:cxnSpLocks/>
          </p:cNvCxnSpPr>
          <p:nvPr/>
        </p:nvCxnSpPr>
        <p:spPr>
          <a:xfrm>
            <a:off x="0" y="540000"/>
            <a:ext cx="9144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75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b="1" dirty="0" smtClean="0">
            <a:solidFill>
              <a:schemeClr val="bg1">
                <a:lumMod val="65000"/>
              </a:schemeClr>
            </a:solidFill>
            <a:latin typeface="Cascadia Code" panose="020B0609020000020004" pitchFamily="34" charset="0"/>
            <a:ea typeface="Cascadia Code" panose="020B0609020000020004" pitchFamily="34" charset="0"/>
            <a:cs typeface="Cascadia Code" panose="020B06090200000200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</TotalTime>
  <Words>802</Words>
  <Application>Microsoft Macintosh PowerPoint</Application>
  <PresentationFormat>On-screen Show (4:3)</PresentationFormat>
  <Paragraphs>73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 Display</vt:lpstr>
      <vt:lpstr>Aptos</vt:lpstr>
      <vt:lpstr>Arial</vt:lpstr>
      <vt:lpstr>Pretendard</vt:lpstr>
      <vt:lpstr>Cascadia Code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김도균</dc:creator>
  <cp:lastModifiedBy>김도균</cp:lastModifiedBy>
  <cp:revision>22</cp:revision>
  <dcterms:created xsi:type="dcterms:W3CDTF">2025-10-22T06:46:32Z</dcterms:created>
  <dcterms:modified xsi:type="dcterms:W3CDTF">2025-10-22T10:52:39Z</dcterms:modified>
</cp:coreProperties>
</file>