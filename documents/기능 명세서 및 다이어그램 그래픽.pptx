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1"/>
  </p:sldMasterIdLst>
  <p:sldIdLst>
    <p:sldId id="256" r:id="rId2"/>
    <p:sldId id="257" r:id="rId3"/>
    <p:sldId id="259" r:id="rId4"/>
    <p:sldId id="260" r:id="rId5"/>
    <p:sldId id="258" r:id="rId6"/>
  </p:sldIdLst>
  <p:sldSz cx="6858000" cy="9906000" type="A4"/>
  <p:notesSz cx="6858000" cy="9144000"/>
  <p:embeddedFontLst>
    <p:embeddedFont>
      <p:font typeface="Cascadia Code" panose="020B0609020000020004" pitchFamily="34" charset="0"/>
      <p:regular r:id="rId7"/>
      <p:bold r:id="rId8"/>
      <p:italic r:id="rId9"/>
      <p:boldItalic r:id="rId10"/>
    </p:embeddedFont>
    <p:embeddedFont>
      <p:font typeface="Pretendard" panose="02000503000000020004" pitchFamily="2" charset="-127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ADB"/>
    <a:srgbClr val="44B29C"/>
    <a:srgbClr val="4DC9B0"/>
    <a:srgbClr val="FFECB2"/>
    <a:srgbClr val="FFC0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60"/>
    <p:restoredTop sz="96029"/>
  </p:normalViewPr>
  <p:slideViewPr>
    <p:cSldViewPr snapToGrid="0">
      <p:cViewPr>
        <p:scale>
          <a:sx n="174" d="100"/>
          <a:sy n="174" d="100"/>
        </p:scale>
        <p:origin x="1208" y="-2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2105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579173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0492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18772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1554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10382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406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75309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60862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8200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2707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487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CCB5D2-3AE2-B06B-8E68-7711B26565C4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A734-389E-4F3E-8E98-C6F629B9EB18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1E0BF-5522-7012-88A3-03BC119EE160}"/>
              </a:ext>
            </a:extLst>
          </p:cNvPr>
          <p:cNvSpPr txBox="1"/>
          <p:nvPr/>
        </p:nvSpPr>
        <p:spPr>
          <a:xfrm>
            <a:off x="2160573" y="815251"/>
            <a:ext cx="4494347" cy="7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수에 대비한 데이터 분석 결과를 도출하기 위해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어느 정도 시기에 따른 정확도는 필요한 데이터라고 판단하였습니다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장기적 관점에서 이뤄지는 교통 정책에 대응할 수 있도록 비교적 넓은 간격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달 등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으로라도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새로 받아 최신화 할 소요가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512E5-53CA-8E05-D169-2A38C9DC76B3}"/>
              </a:ext>
            </a:extLst>
          </p:cNvPr>
          <p:cNvSpPr/>
          <p:nvPr/>
        </p:nvSpPr>
        <p:spPr>
          <a:xfrm>
            <a:off x="203077" y="607501"/>
            <a:ext cx="1752295" cy="42730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0ED77-6BAE-4FAF-B0B5-B57A6084411E}"/>
              </a:ext>
            </a:extLst>
          </p:cNvPr>
          <p:cNvSpPr/>
          <p:nvPr/>
        </p:nvSpPr>
        <p:spPr>
          <a:xfrm>
            <a:off x="203079" y="607500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92B4A-C072-7470-10A2-AF5A583EC917}"/>
              </a:ext>
            </a:extLst>
          </p:cNvPr>
          <p:cNvSpPr txBox="1"/>
          <p:nvPr/>
        </p:nvSpPr>
        <p:spPr>
          <a:xfrm>
            <a:off x="203076" y="607499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5514A5-DD80-8BBE-92EF-CE04221BDAD5}"/>
              </a:ext>
            </a:extLst>
          </p:cNvPr>
          <p:cNvSpPr txBox="1"/>
          <p:nvPr/>
        </p:nvSpPr>
        <p:spPr>
          <a:xfrm>
            <a:off x="203077" y="916943"/>
            <a:ext cx="1754998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행정동명과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거주 인구 수를 저장하는 모델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A20441-D22D-7EF1-BC0D-40EF352A579F}"/>
              </a:ext>
            </a:extLst>
          </p:cNvPr>
          <p:cNvSpPr/>
          <p:nvPr/>
        </p:nvSpPr>
        <p:spPr>
          <a:xfrm>
            <a:off x="203076" y="607500"/>
            <a:ext cx="1752296" cy="427302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E9DD01-6414-3C61-4F76-AB9DFC5977F7}"/>
              </a:ext>
            </a:extLst>
          </p:cNvPr>
          <p:cNvSpPr txBox="1"/>
          <p:nvPr/>
        </p:nvSpPr>
        <p:spPr>
          <a:xfrm>
            <a:off x="21605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E2F618-A2D2-4B24-C85B-616E8697A395}"/>
              </a:ext>
            </a:extLst>
          </p:cNvPr>
          <p:cNvSpPr txBox="1"/>
          <p:nvPr/>
        </p:nvSpPr>
        <p:spPr>
          <a:xfrm>
            <a:off x="2160573" y="2668463"/>
            <a:ext cx="4494347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 행정동명을 받아오고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같은 출처에서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90235C-215F-ED07-398D-CED102070F02}"/>
              </a:ext>
            </a:extLst>
          </p:cNvPr>
          <p:cNvSpPr txBox="1"/>
          <p:nvPr/>
        </p:nvSpPr>
        <p:spPr>
          <a:xfrm>
            <a:off x="2160573" y="2443097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16FE584-5FA2-145F-5DE0-2D2CF94C18C8}"/>
              </a:ext>
            </a:extLst>
          </p:cNvPr>
          <p:cNvGrpSpPr/>
          <p:nvPr/>
        </p:nvGrpSpPr>
        <p:grpSpPr>
          <a:xfrm>
            <a:off x="306125" y="1383377"/>
            <a:ext cx="1541477" cy="764180"/>
            <a:chOff x="408167" y="1844503"/>
            <a:chExt cx="2055302" cy="101890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5CE279-F647-EC91-5BBB-5D1B97E5C739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E43EDB-05D1-CB58-0B1C-2C02C83FEFC4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9816F7D-E548-DDA2-DB1D-473DB280246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DBB6199-3213-1A97-600F-5D7542064A73}"/>
                </a:ext>
              </a:extLst>
            </p:cNvPr>
            <p:cNvSpPr txBox="1"/>
            <p:nvPr/>
          </p:nvSpPr>
          <p:spPr>
            <a:xfrm>
              <a:off x="1457257" y="1844503"/>
              <a:ext cx="1006212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3105065-44AE-069B-DCEA-69B2C0016580}"/>
              </a:ext>
            </a:extLst>
          </p:cNvPr>
          <p:cNvGrpSpPr/>
          <p:nvPr/>
        </p:nvGrpSpPr>
        <p:grpSpPr>
          <a:xfrm>
            <a:off x="306128" y="3126053"/>
            <a:ext cx="1541476" cy="762493"/>
            <a:chOff x="408168" y="3007410"/>
            <a:chExt cx="2055301" cy="101665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03176D8-6112-8B55-1E68-A9270A894083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273659-5580-0AF4-3BDB-02F642316F24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D2028F-413A-AF2D-90AE-04DB4E53413E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총 생활 인구 수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04208E3-CDCF-DE70-ECAE-4E88ED564440}"/>
                </a:ext>
              </a:extLst>
            </p:cNvPr>
            <p:cNvSpPr txBox="1"/>
            <p:nvPr/>
          </p:nvSpPr>
          <p:spPr>
            <a:xfrm>
              <a:off x="1594654" y="3013989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33201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1FCC2F1-12CB-FF56-34D8-F30A6BE2566E}"/>
              </a:ext>
            </a:extLst>
          </p:cNvPr>
          <p:cNvGrpSpPr/>
          <p:nvPr/>
        </p:nvGrpSpPr>
        <p:grpSpPr>
          <a:xfrm>
            <a:off x="306124" y="2253871"/>
            <a:ext cx="1541477" cy="764180"/>
            <a:chOff x="408167" y="1844503"/>
            <a:chExt cx="2055302" cy="1018906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C7480DB-3C56-EADD-3470-20720274629F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7060861-5E3B-23FA-B62F-DDCADCAF8B6E}"/>
                </a:ext>
              </a:extLst>
            </p:cNvPr>
            <p:cNvSpPr txBox="1"/>
            <p:nvPr/>
          </p:nvSpPr>
          <p:spPr>
            <a:xfrm>
              <a:off x="408168" y="1849564"/>
              <a:ext cx="1049089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A07D5C8-C1F1-9130-6DA3-3E1DF486FAFE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이름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18843F-1A2A-99A8-69F2-E1CAC72CA659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</a:t>
              </a:r>
              <a:r>
                <a:rPr lang="ko-KR" alt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흑석동</a:t>
              </a:r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85FFFE18-177A-BBDF-2184-77195B1B858F}"/>
              </a:ext>
            </a:extLst>
          </p:cNvPr>
          <p:cNvSpPr txBox="1"/>
          <p:nvPr/>
        </p:nvSpPr>
        <p:spPr>
          <a:xfrm>
            <a:off x="2160573" y="3222910"/>
            <a:ext cx="4494347" cy="1982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fetch_hangjeongdong_data.py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관련 데이터만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부득이 두 가지의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요청 결과를 조합하여 사용하는 형태로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저장하는 구조를 취하게 되었습니다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우선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현재 존재하는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한글명을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그런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에서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평균 인구수를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해당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시간별로 인구 수 데이터를 개별적으로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취합을 위해 하루 간의 평균 인구수를 계산하여 최종적으로 해당 데이터를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400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 곳의 행정동 정보를 받아오기 때문에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건이 넘는 자료의 요청을 보내야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요청만 접수하였습니다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자체적으로 제공해 주는 전체 데이터 개수를 파악한 후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통해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보내는 식으로 처리하였습니다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F6E09DA-8F5A-FE46-0B0D-3E58450E9F0D}"/>
              </a:ext>
            </a:extLst>
          </p:cNvPr>
          <p:cNvSpPr txBox="1"/>
          <p:nvPr/>
        </p:nvSpPr>
        <p:spPr>
          <a:xfrm>
            <a:off x="2160574" y="1505245"/>
            <a:ext cx="743048" cy="69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population 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  <a:endParaRPr lang="en-US" altLang="ko-KR" sz="67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6B929E-66DD-BD5C-7B90-119BF7730271}"/>
              </a:ext>
            </a:extLst>
          </p:cNvPr>
          <p:cNvCxnSpPr>
            <a:cxnSpLocks/>
          </p:cNvCxnSpPr>
          <p:nvPr/>
        </p:nvCxnSpPr>
        <p:spPr>
          <a:xfrm>
            <a:off x="2218767" y="2308207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4A49A7-C67F-6506-2E69-ECCB4488EFDA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A882DBD-9768-283B-4392-4A09A9BCC405}"/>
              </a:ext>
            </a:extLst>
          </p:cNvPr>
          <p:cNvSpPr txBox="1"/>
          <p:nvPr/>
        </p:nvSpPr>
        <p:spPr>
          <a:xfrm>
            <a:off x="2845238" y="1505245"/>
            <a:ext cx="3809682" cy="697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행정동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인구 수에 대비한 분석을 위해 모으는 인구 수를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조회와 분석을 위해 수집 시각을 기록하는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557F007-1AB2-6FD3-3F1F-E208F07A4786}"/>
              </a:ext>
            </a:extLst>
          </p:cNvPr>
          <p:cNvGrpSpPr/>
          <p:nvPr/>
        </p:nvGrpSpPr>
        <p:grpSpPr>
          <a:xfrm>
            <a:off x="306124" y="4008089"/>
            <a:ext cx="1541476" cy="762493"/>
            <a:chOff x="408168" y="3007410"/>
            <a:chExt cx="2055301" cy="10166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03226C5-322F-3AF1-E5F9-77EF2E96BC40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D581FED-00A6-DCCA-38BC-29C28E1DC48B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4F2CED8-412E-C56C-3033-8A05E570108D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데이터가 수집된 기준 시간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5D655EF-B33C-A59F-CB20-EB61CD204740}"/>
                </a:ext>
              </a:extLst>
            </p:cNvPr>
            <p:cNvSpPr txBox="1"/>
            <p:nvPr/>
          </p:nvSpPr>
          <p:spPr>
            <a:xfrm>
              <a:off x="1457258" y="3013989"/>
              <a:ext cx="1006209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855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DD2-B263-6EA6-8297-A85FF038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65EC6D-DFBF-55BB-80E6-534C7212BE0D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FC32CB-163B-F8ED-5A47-E212F3ED635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182BFF-0338-28E7-5B74-E324A80F0364}"/>
              </a:ext>
            </a:extLst>
          </p:cNvPr>
          <p:cNvSpPr/>
          <p:nvPr/>
        </p:nvSpPr>
        <p:spPr>
          <a:xfrm>
            <a:off x="203078" y="607500"/>
            <a:ext cx="1752295" cy="6882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44CD3D4-0AC2-9CFE-1C9E-09F65205809C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E95A37-D73B-AF75-4508-172B9D440F6B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BB6283-CD80-FA48-CC3B-183DD88FE09A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기본 정보를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17A312-0E2C-F245-ECF0-2257854FB5F0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8F5E0ED-1FAA-D6E8-F1D0-6968387C510E}"/>
              </a:ext>
            </a:extLst>
          </p:cNvPr>
          <p:cNvSpPr/>
          <p:nvPr/>
        </p:nvSpPr>
        <p:spPr>
          <a:xfrm>
            <a:off x="203076" y="607501"/>
            <a:ext cx="1752296" cy="6882600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2AA170-A100-DEEE-FA53-E38CE3B55D53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DA177D-E2C0-CA5A-98A3-F3E2D43EFD39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불가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A79D3A-54D7-B58D-8622-0205C49CA9E4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1B2B51-EC34-7204-1E52-DB43F21DDB11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B7B3F8-144E-9D25-4A8D-B077687E4630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고유의 이름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2D44AA-8271-4A9D-AC62-FD336F8C95FC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E13BC-EE5F-B791-0F87-B059DC0BBB8F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EE828-0F70-1C29-FD05-C9C4EB0EA3C1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경도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88208-1E11-AF1A-807C-340920E0D34A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E9B90-3E83-F3EF-9525-DD86F1B2CF87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51FC8-116B-A646-0D1A-B00E6C70F888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위도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7DE3E92-FBF2-F829-B3EC-B90FFC0B4F27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4AF4593-BE2D-945D-EFD3-C5FD378CE935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AE1420E-819E-1F62-43A0-7F458379970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50CC025-93DB-78FB-6845-D80BA66B22EF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정류장이 속한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A180C4-A911-88F4-E39C-C68D223F626C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37052294-BC63-E6CC-5752-A78AA615D3AE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721EB9-5EB3-18F6-8AEE-0A79EB8974E3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</a:t>
            </a:r>
            <a:r>
              <a:rPr lang="ko-KR" altLang="en-US" sz="825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중앙대정문</a:t>
            </a:r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7688EF-9FB8-F2BE-DF06-C3E3F689B198}"/>
              </a:ext>
            </a:extLst>
          </p:cNvPr>
          <p:cNvSpPr txBox="1"/>
          <p:nvPr/>
        </p:nvSpPr>
        <p:spPr>
          <a:xfrm>
            <a:off x="856330" y="3124501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126.9582940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3BC1B4-C54F-8099-9892-5841853F0323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37.5068110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BD9DE61-FB55-BA0A-0B63-39C77BC2393E}"/>
              </a:ext>
            </a:extLst>
          </p:cNvPr>
          <p:cNvGrpSpPr/>
          <p:nvPr/>
        </p:nvGrpSpPr>
        <p:grpSpPr>
          <a:xfrm>
            <a:off x="303424" y="5734501"/>
            <a:ext cx="1541477" cy="763086"/>
            <a:chOff x="408167" y="1844503"/>
            <a:chExt cx="2055302" cy="101744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F2EEF-6F21-6DF7-54AE-C451ECC6BF2D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5199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F1DD9B1-CDEB-ABD8-5921-D62FC87D216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is_active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BooleanField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095607F-450F-CB80-025E-008ADD6AF4C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정류장의 활성화 여부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B1F2B9A-DCC8-3843-0DF7-1CE09AB05A0E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True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0B37C69D-D3B2-93B0-25CB-4D1F06F4DDE5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버스 정류장이 어디 위치해 있는지를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 인구 수와 마찬가지로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교통 정책의 변화에 따라 비교적 넓은 간격의 주기로 최신화해 줄 필요가 있는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C63A2A-7155-E08A-8C39-4D98F29484F2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CC2A55-3325-686F-19CC-637107DADD38}"/>
              </a:ext>
            </a:extLst>
          </p:cNvPr>
          <p:cNvSpPr txBox="1"/>
          <p:nvPr/>
        </p:nvSpPr>
        <p:spPr>
          <a:xfrm>
            <a:off x="2157873" y="3016875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버스정류소 위치정보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한글명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지도상 위치를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카카오에서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버스 정류장이 위치한 좌표가 어느 행정동에 속하여 있는지를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F79019-0040-51CA-3ABC-17947975EF36}"/>
              </a:ext>
            </a:extLst>
          </p:cNvPr>
          <p:cNvSpPr txBox="1"/>
          <p:nvPr/>
        </p:nvSpPr>
        <p:spPr>
          <a:xfrm>
            <a:off x="2157874" y="2820667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F2E7474-7999-49D5-4FE1-D368D8C6C0A9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F53786E-5742-B588-C136-F08F8CD2F469}"/>
              </a:ext>
            </a:extLst>
          </p:cNvPr>
          <p:cNvCxnSpPr>
            <a:cxnSpLocks/>
          </p:cNvCxnSpPr>
          <p:nvPr/>
        </p:nvCxnSpPr>
        <p:spPr>
          <a:xfrm>
            <a:off x="2218767" y="2633319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49B43A3-EE72-94C6-9B8B-382294E31D5F}"/>
              </a:ext>
            </a:extLst>
          </p:cNvPr>
          <p:cNvSpPr txBox="1"/>
          <p:nvPr/>
        </p:nvSpPr>
        <p:spPr>
          <a:xfrm>
            <a:off x="2160573" y="1369697"/>
            <a:ext cx="4494347" cy="116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endParaRPr lang="en-US" altLang="ko-KR" sz="67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Pretendard" panose="02000503000000020004" pitchFamily="2" charset="-127"/>
                <a:cs typeface="Cascadia Code" panose="020B0609020000020004" pitchFamily="34" charset="0"/>
              </a:rPr>
              <a:t>timestamp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E3FC6-CC21-FC24-039C-2143D71A6EBC}"/>
              </a:ext>
            </a:extLst>
          </p:cNvPr>
          <p:cNvSpPr txBox="1"/>
          <p:nvPr/>
        </p:nvSpPr>
        <p:spPr>
          <a:xfrm>
            <a:off x="2810603" y="1369697"/>
            <a:ext cx="3844317" cy="116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출력해야 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경도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위도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소속 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사용되고 있는 정류장인지 여부를 구분하는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조회와 분석을 위해 수집 시각을 기록하는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2C0E89-0894-02F5-49DE-308BA2755239}"/>
              </a:ext>
            </a:extLst>
          </p:cNvPr>
          <p:cNvSpPr txBox="1"/>
          <p:nvPr/>
        </p:nvSpPr>
        <p:spPr>
          <a:xfrm>
            <a:off x="2157873" y="3571322"/>
            <a:ext cx="4497051" cy="1665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fetch_busstop_data.py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 데이터와 마찬가지로 서울시 전역의 만 개가 넘는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공공데이터에서는 기본적으로 특정한 버스 정류장이 위치한 지도상의 좌표만 제공하고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주소나 소속된 행정동 정보는 별도로 제공하지 않기에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제공되는 좌표를 통해 이 정류장이 어느 행정동에 위치하여 있는지를 확인하는 과정을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제공하는 좌표의 행정동 주소로의 변환 서비스를 거쳐 최종 데이터를 수집하게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 정책에 따라 생겼다 사라질 수도 있는 버스 정류장이기에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정류장이 사용되고 있는지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아닌지 상태를 별도로 추적합니다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사용되고 있지 않은 상태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폐지된 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이라도 과거 데이터를 열람하여 시간에 따른 추이를 확인할 수 있게 하고자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데이터로 정류장 활성 여부를 추적하여 데이터를 삭제하지 않고 보존합니다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3E9E-C323-D3CB-C166-9205305C8C93}"/>
              </a:ext>
            </a:extLst>
          </p:cNvPr>
          <p:cNvSpPr txBox="1"/>
          <p:nvPr/>
        </p:nvSpPr>
        <p:spPr>
          <a:xfrm>
            <a:off x="2157869" y="5236650"/>
            <a:ext cx="4497051" cy="1506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버스 정류장 기초 데이터에 활성화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비활성화 여부를 별도 필드로 저장하는 것이 필요한 이유는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정류장은 현실에서 임시로 운영이 중단되는 등 상태가 변할 수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이런 정류장을 단순히 목록에서 제외시키는 방식으로 반영합니다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비활성 정류장을 보존하지 않고 삭제한다면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과거 정보를 조회하는 데에 추가적인 계산이 필요할 수 있고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나중에 다시 운영을 시작하여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재등장한다면 저장된 데이터의 타임라인이 중간에 불필요하게 끊기게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정류장의 이용자가 없으면 비활성 상태인 식으로 논리적으로 처리하는 방법도 고려할 수 있으나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정말 운영 중인데 이용자가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명이거나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공사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시위나 명절 연휴 등의 사유로 노선이 임시 변경되는 등의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End-Case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더 나은 대안이 없는 것으로 보였습니다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추가로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행정동의 경우 변경 주기가 더욱 드물고 해당 데이터는 위치나 주소 데이터보다 인구 수의 변동 추이가 더욱 중점인 데이터였기에 정류장 데이터만이 해당 필드를 가지게 설계하였습니다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325C0DC-59D7-F34E-3F20-B74BCFCA9E58}"/>
              </a:ext>
            </a:extLst>
          </p:cNvPr>
          <p:cNvGrpSpPr/>
          <p:nvPr/>
        </p:nvGrpSpPr>
        <p:grpSpPr>
          <a:xfrm>
            <a:off x="306124" y="6617646"/>
            <a:ext cx="1541476" cy="762493"/>
            <a:chOff x="408168" y="3007410"/>
            <a:chExt cx="2055301" cy="1016657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3DB8C61-7FBD-6D7D-E37E-5C97A7ABB602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FDF0CB-D8FB-2292-965A-974F766F5774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527C30D-8F3F-3AF7-901B-8968CFD12F3A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데이터가 수집된 기준 시간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6DADA28-F512-51FF-630D-B8E67E894FBF}"/>
                </a:ext>
              </a:extLst>
            </p:cNvPr>
            <p:cNvSpPr txBox="1"/>
            <p:nvPr/>
          </p:nvSpPr>
          <p:spPr>
            <a:xfrm>
              <a:off x="1457258" y="3013989"/>
              <a:ext cx="1006209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275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62BA6-8E79-1605-6871-6DC31FA6C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A9751C1-6E6C-1CB0-8C99-D73DE207B797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BusData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52740F-5190-4834-EAEB-5838DFE5AC7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C204ED-C662-FDA9-B202-234225142759}"/>
              </a:ext>
            </a:extLst>
          </p:cNvPr>
          <p:cNvSpPr/>
          <p:nvPr/>
        </p:nvSpPr>
        <p:spPr>
          <a:xfrm>
            <a:off x="203078" y="607501"/>
            <a:ext cx="1752295" cy="51460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C3E396-0C1F-DAEB-B085-4525FCE7795E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19AE78-5D04-1A2C-7EA9-81E0DE189854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BusData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311BF7-2C6D-1779-E16C-0934D704B2A6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</a:t>
            </a:r>
            <a:r>
              <a:rPr lang="ko-KR" altLang="en-US" sz="825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647604-D8FA-0203-679C-D19F87C30193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44B06-56BB-B6FD-4ECE-0687A59BF422}"/>
              </a:ext>
            </a:extLst>
          </p:cNvPr>
          <p:cNvSpPr/>
          <p:nvPr/>
        </p:nvSpPr>
        <p:spPr>
          <a:xfrm>
            <a:off x="203076" y="607501"/>
            <a:ext cx="1752296" cy="514606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E7694-6579-3719-BD18-372EB8379E01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CAFE3B-F889-B68B-7811-19B08DC84FE4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5DA5027-91B6-88C2-3834-7D40C92F5656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0F2A3A-B56B-42A6-3D80-7D2D9990AE3E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7FE57F-695E-1B02-CB20-061DCED34B61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버스 노선 고유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B943FE-2F56-0C0B-3BF9-05B0131FE3C3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6F9747-9B69-71C5-B9E9-489411E13052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IntegerField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573FE8-7556-53BA-AE86-7C1C31AA9B44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정류장의 하루간 승차 인원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정수 형식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95907B6-04C1-737F-AA59-3DEBE77622AB}"/>
              </a:ext>
            </a:extLst>
          </p:cNvPr>
          <p:cNvGrpSpPr/>
          <p:nvPr/>
        </p:nvGrpSpPr>
        <p:grpSpPr>
          <a:xfrm>
            <a:off x="303424" y="3127462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B20EC13-6180-2891-AB77-64CDE2CB70EC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63D958E-B810-F594-4E61-6B4389A69F60}"/>
                </a:ext>
              </a:extLst>
            </p:cNvPr>
            <p:cNvSpPr txBox="1"/>
            <p:nvPr/>
          </p:nvSpPr>
          <p:spPr>
            <a:xfrm>
              <a:off x="408168" y="1849564"/>
              <a:ext cx="1399520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passenger_off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18ED3D-9052-55A8-F83C-81D8F60AB3A7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해당 정류장의 하루간 하차 인원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정수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60FC429-DDD7-DAB9-8804-3B58B21D0A5F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954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DD899D2-6BC1-50CD-6426-3F4B030F1760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8ED51D-BB2D-0FAB-0134-EDBB59206F60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“11110602”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114B35E-1FAB-52F4-9E98-F5CD4EE1E728}"/>
              </a:ext>
            </a:extLst>
          </p:cNvPr>
          <p:cNvGrpSpPr/>
          <p:nvPr/>
        </p:nvGrpSpPr>
        <p:grpSpPr>
          <a:xfrm>
            <a:off x="303649" y="4873662"/>
            <a:ext cx="1541476" cy="762003"/>
            <a:chOff x="303649" y="3124501"/>
            <a:chExt cx="1541476" cy="7620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C1D68FD-3465-73C5-422D-DBCE717FC8F9}"/>
                </a:ext>
              </a:extLst>
            </p:cNvPr>
            <p:cNvSpPr/>
            <p:nvPr/>
          </p:nvSpPr>
          <p:spPr>
            <a:xfrm flipH="1">
              <a:off x="306125" y="3125104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6E0B40-A2F2-AEA3-87A1-C58228585184}"/>
                </a:ext>
              </a:extLst>
            </p:cNvPr>
            <p:cNvSpPr txBox="1"/>
            <p:nvPr/>
          </p:nvSpPr>
          <p:spPr>
            <a:xfrm>
              <a:off x="303649" y="3127212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E9ADF64-914A-C1E9-CB18-72EE778027F3}"/>
                </a:ext>
              </a:extLst>
            </p:cNvPr>
            <p:cNvSpPr txBox="1"/>
            <p:nvPr/>
          </p:nvSpPr>
          <p:spPr>
            <a:xfrm>
              <a:off x="306124" y="3507813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데이터가 수집된 기준 시간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8E90A3A-23CD-4C66-2DA8-F7B1F66AAC57}"/>
                </a:ext>
              </a:extLst>
            </p:cNvPr>
            <p:cNvSpPr txBox="1"/>
            <p:nvPr/>
          </p:nvSpPr>
          <p:spPr>
            <a:xfrm>
              <a:off x="856330" y="3124501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D006C40E-FDD9-92E7-EB3F-DFC753AF364F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134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EDF3C9-B279-B2CF-8835-C67898708452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 주제의 골자가 되는 중요한 데이터 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서울시 버스 교통 이용 현황을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이라는 가장 세분화된 단위로 파악하고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이를 통해 교통 접근성을 분석하기 위한 원천 데이터가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FB1958-B538-9428-3E5C-B8D8A37BBF69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6B88AE-1474-B239-05E1-6832B73C279C}"/>
              </a:ext>
            </a:extLst>
          </p:cNvPr>
          <p:cNvSpPr txBox="1"/>
          <p:nvPr/>
        </p:nvSpPr>
        <p:spPr>
          <a:xfrm>
            <a:off x="2157873" y="2764596"/>
            <a:ext cx="4497051" cy="395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버스노선별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 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버스 노선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ID,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날짜와 실제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 데이터를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469D47-14C3-FC52-CDDE-C15291F3C5A9}"/>
              </a:ext>
            </a:extLst>
          </p:cNvPr>
          <p:cNvSpPr txBox="1"/>
          <p:nvPr/>
        </p:nvSpPr>
        <p:spPr>
          <a:xfrm>
            <a:off x="2157874" y="2568388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FD12CF1-A6B7-B90B-00CE-C3840F039903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FD18A5A-0235-83D3-5032-7FD6B1C7A2D6}"/>
              </a:ext>
            </a:extLst>
          </p:cNvPr>
          <p:cNvCxnSpPr>
            <a:cxnSpLocks/>
          </p:cNvCxnSpPr>
          <p:nvPr/>
        </p:nvCxnSpPr>
        <p:spPr>
          <a:xfrm>
            <a:off x="2218767" y="2365890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EEDEDE-D186-CF29-52D6-1394BFBA0C55}"/>
              </a:ext>
            </a:extLst>
          </p:cNvPr>
          <p:cNvSpPr txBox="1"/>
          <p:nvPr/>
        </p:nvSpPr>
        <p:spPr>
          <a:xfrm>
            <a:off x="2160573" y="1369697"/>
            <a:ext cx="4494347" cy="85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passenger_off</a:t>
            </a:r>
            <a:endParaRPr lang="en-US" altLang="ko-KR" sz="67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EAA74-7E19-D331-33BF-51008F0D169F}"/>
              </a:ext>
            </a:extLst>
          </p:cNvPr>
          <p:cNvSpPr txBox="1"/>
          <p:nvPr/>
        </p:nvSpPr>
        <p:spPr>
          <a:xfrm>
            <a:off x="2917704" y="1369697"/>
            <a:ext cx="3737216" cy="85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제공된 버스 노선의 구분을 위한 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데이터가 어느 날짜의 기록인지를 명시합니다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특정일의 데이터를 조회하거나 분석할 때 기준이 됩니다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동안 해당 버스 정류장에서의 해당 노선 버스에서 몇 명이 승차했는지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조회와 분석을 위해 수집 시각을 기록하는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09802-A804-834A-7B0A-A756AFB91E2B}"/>
              </a:ext>
            </a:extLst>
          </p:cNvPr>
          <p:cNvSpPr txBox="1"/>
          <p:nvPr/>
        </p:nvSpPr>
        <p:spPr>
          <a:xfrm>
            <a:off x="2157873" y="3160345"/>
            <a:ext cx="4497051" cy="2458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수나 버스 정류장 기초 데이터와 마찬가지로 버스 노선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 개수로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개가 넘는 정류장의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달라지는 수치가 보장된 변동성이 높은 데이터이기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업데이트가 하루 이틀 정도 지연되는 경우에도 문제없이 데이터를 수집할 수 있도록 안정성을 고려하여 이러한 수집 방법을 채택하였습니다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몇 만 개의 단위가 넘어가는 데이터를 수집하다 보니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기존 실습에서 다루었던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.save()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.create()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메서드의 처리 시간 지연이 두드러졌습니다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하나의 데이터를 저장하거나 처리하다 보니 데이터베이스 접근 횟수도 만 회 단위가 넘어가며 생긴 문제로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큰 데이터를 다루기 위한 더 나은 방법으로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bulk_create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Pretendard" panose="02000503000000020004" pitchFamily="2" charset="-127"/>
                <a:cs typeface="Cascadia Code" panose="020B0609020000020004" pitchFamily="34" charset="0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사용을 채택하였습니다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수집한 데이터를 임시로 메모리에 저장한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데이터베이스와는 한 번의 접근만으로 한꺼번에 데이터를 이동시켜 병목을 최소화하는 기법입니다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일부 자동화 로직을 사용할 수 없다는 단점이 있는 것으로 보였지만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프로젝트에서 요구하는 사항에 제약은 없는 것으로 판단하여 본 데이터 모델과 함께 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수집할 때에도 이 메서드를 사용하였습니다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C48B2-6228-F731-322B-A307CB2179D4}"/>
              </a:ext>
            </a:extLst>
          </p:cNvPr>
          <p:cNvSpPr txBox="1"/>
          <p:nvPr/>
        </p:nvSpPr>
        <p:spPr>
          <a:xfrm>
            <a:off x="2157869" y="5619160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행정동과 정류장 기초 데이터는 최신화 빈도가 적어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timestamp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서버 시간 기준으로 해도 무관하였 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일일 데이터는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야간 버스에서 자정을 넘어가는 경우 등에서 기준 일자와 저장 시간대가 불일치하는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 본 데이터에서의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timestamp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 서울시에서 제공하는 날짜 데이터로 채웁니다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245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AFA3-6AF1-4247-E881-D906C6234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4FEFBD-EDEF-2331-3B4E-F084B2B8E04E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History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 모델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DEDE6-E389-7291-F5DF-D1046BF6A3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00D3BDF-81E4-EBD3-310C-BDAE6B08C5E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0B3A72B-CCE3-8852-8C49-67F4BFCAF83F}"/>
              </a:ext>
            </a:extLst>
          </p:cNvPr>
          <p:cNvSpPr/>
          <p:nvPr/>
        </p:nvSpPr>
        <p:spPr>
          <a:xfrm>
            <a:off x="203077" y="1577454"/>
            <a:ext cx="1754999" cy="25412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83049-971E-F5DC-D5CB-A59C1B89D3EF}"/>
              </a:ext>
            </a:extLst>
          </p:cNvPr>
          <p:cNvSpPr/>
          <p:nvPr/>
        </p:nvSpPr>
        <p:spPr>
          <a:xfrm>
            <a:off x="203079" y="1577453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13F9E8-3A05-7FB5-4F5D-AAE11996C8CE}"/>
              </a:ext>
            </a:extLst>
          </p:cNvPr>
          <p:cNvSpPr txBox="1"/>
          <p:nvPr/>
        </p:nvSpPr>
        <p:spPr>
          <a:xfrm>
            <a:off x="203076" y="1577452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D251F7-56B9-BC2B-3800-DA47C952FD4D}"/>
              </a:ext>
            </a:extLst>
          </p:cNvPr>
          <p:cNvSpPr/>
          <p:nvPr/>
        </p:nvSpPr>
        <p:spPr>
          <a:xfrm>
            <a:off x="203076" y="1577453"/>
            <a:ext cx="1755000" cy="254122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CF9BBC-1529-5F8F-DA75-D93AA87E55CF}"/>
              </a:ext>
            </a:extLst>
          </p:cNvPr>
          <p:cNvGrpSpPr/>
          <p:nvPr/>
        </p:nvGrpSpPr>
        <p:grpSpPr>
          <a:xfrm>
            <a:off x="306126" y="1959239"/>
            <a:ext cx="1539676" cy="270000"/>
            <a:chOff x="408168" y="1846751"/>
            <a:chExt cx="2052901" cy="360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E7046E0-6384-06E9-D43F-DDF036BB84E6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CD5C482-578A-DE89-F849-006CE2FA1330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73F64B1-E75D-8555-B09C-5B59A30EC355}"/>
              </a:ext>
            </a:extLst>
          </p:cNvPr>
          <p:cNvGrpSpPr/>
          <p:nvPr/>
        </p:nvGrpSpPr>
        <p:grpSpPr>
          <a:xfrm>
            <a:off x="307364" y="2278057"/>
            <a:ext cx="1539676" cy="270000"/>
            <a:chOff x="408168" y="1846751"/>
            <a:chExt cx="2052901" cy="36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FB17EE9-0F72-6C40-23E2-917E24FB452E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AECB37A-7B7D-EBB5-FE58-776765DF495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EFF3262-C444-81EA-B5EA-ED416C228B07}"/>
              </a:ext>
            </a:extLst>
          </p:cNvPr>
          <p:cNvGrpSpPr/>
          <p:nvPr/>
        </p:nvGrpSpPr>
        <p:grpSpPr>
          <a:xfrm>
            <a:off x="306126" y="2596875"/>
            <a:ext cx="1539676" cy="270000"/>
            <a:chOff x="408168" y="1846751"/>
            <a:chExt cx="2052901" cy="360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DA9AD67-B6BC-93C8-0C98-57EB858D033B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55BCA54-089E-0F4F-21A4-57CED222D23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5BE6DCF-DB92-2DC3-9626-345F29B9322D}"/>
              </a:ext>
            </a:extLst>
          </p:cNvPr>
          <p:cNvGrpSpPr/>
          <p:nvPr/>
        </p:nvGrpSpPr>
        <p:grpSpPr>
          <a:xfrm>
            <a:off x="303649" y="3252857"/>
            <a:ext cx="1541476" cy="762003"/>
            <a:chOff x="303649" y="2970459"/>
            <a:chExt cx="1541476" cy="76200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0051F95-0573-2F16-9941-8DBDAFA4443D}"/>
                </a:ext>
              </a:extLst>
            </p:cNvPr>
            <p:cNvSpPr/>
            <p:nvPr/>
          </p:nvSpPr>
          <p:spPr>
            <a:xfrm flipH="1">
              <a:off x="306125" y="2971062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E7182C-CDEA-CDB3-D8AD-14CAD429784C}"/>
                </a:ext>
              </a:extLst>
            </p:cNvPr>
            <p:cNvSpPr txBox="1"/>
            <p:nvPr/>
          </p:nvSpPr>
          <p:spPr>
            <a:xfrm>
              <a:off x="303649" y="2973170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6654E14-E5C9-5FB3-C319-A36DF91A3844}"/>
                </a:ext>
              </a:extLst>
            </p:cNvPr>
            <p:cNvSpPr txBox="1"/>
            <p:nvPr/>
          </p:nvSpPr>
          <p:spPr>
            <a:xfrm>
              <a:off x="306124" y="3353771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3C48A3-11EE-9BC1-FE80-2B82E3D40107}"/>
                </a:ext>
              </a:extLst>
            </p:cNvPr>
            <p:cNvSpPr txBox="1"/>
            <p:nvPr/>
          </p:nvSpPr>
          <p:spPr>
            <a:xfrm>
              <a:off x="856330" y="2970459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4441B44A-6AD7-186A-B883-D783CF1C900B}"/>
              </a:ext>
            </a:extLst>
          </p:cNvPr>
          <p:cNvSpPr/>
          <p:nvPr/>
        </p:nvSpPr>
        <p:spPr>
          <a:xfrm>
            <a:off x="2161137" y="1577452"/>
            <a:ext cx="1754999" cy="3502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2E22911-FA1B-ABD0-73D4-F1775B2A10D0}"/>
              </a:ext>
            </a:extLst>
          </p:cNvPr>
          <p:cNvSpPr/>
          <p:nvPr/>
        </p:nvSpPr>
        <p:spPr>
          <a:xfrm>
            <a:off x="2161139" y="1577451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048759-08F2-3B7F-4C3F-C18A2EC93B7D}"/>
              </a:ext>
            </a:extLst>
          </p:cNvPr>
          <p:cNvSpPr txBox="1"/>
          <p:nvPr/>
        </p:nvSpPr>
        <p:spPr>
          <a:xfrm>
            <a:off x="2161136" y="157745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BusStopHistory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26DD798-0FD2-E1FE-633A-938FD9BEB3E1}"/>
              </a:ext>
            </a:extLst>
          </p:cNvPr>
          <p:cNvSpPr/>
          <p:nvPr/>
        </p:nvSpPr>
        <p:spPr>
          <a:xfrm>
            <a:off x="2161136" y="1577451"/>
            <a:ext cx="1755000" cy="3502068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F8ABE50-D03F-AECA-D9C3-35F227D56822}"/>
              </a:ext>
            </a:extLst>
          </p:cNvPr>
          <p:cNvGrpSpPr/>
          <p:nvPr/>
        </p:nvGrpSpPr>
        <p:grpSpPr>
          <a:xfrm>
            <a:off x="2263846" y="1959237"/>
            <a:ext cx="1539676" cy="270000"/>
            <a:chOff x="408168" y="1846751"/>
            <a:chExt cx="2052901" cy="36000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A8770FF-71FB-DA83-1BB6-AAB67DF7C32D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9393C3-BFA0-4300-B6A9-C154C1C12111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busstop_id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5D50264-4952-1BB6-7EB3-A1BA2B7C7AFE}"/>
              </a:ext>
            </a:extLst>
          </p:cNvPr>
          <p:cNvGrpSpPr/>
          <p:nvPr/>
        </p:nvGrpSpPr>
        <p:grpSpPr>
          <a:xfrm>
            <a:off x="2265424" y="2279204"/>
            <a:ext cx="1539676" cy="270000"/>
            <a:chOff x="408168" y="1846751"/>
            <a:chExt cx="2052901" cy="36000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0AA2001-39DD-55A6-37B0-8FC68A829623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C9CB7C8-2D01-3226-EE04-D6B59C2CB27A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B05B968-AC9D-E25F-0C69-ED0D90209E7F}"/>
              </a:ext>
            </a:extLst>
          </p:cNvPr>
          <p:cNvGrpSpPr/>
          <p:nvPr/>
        </p:nvGrpSpPr>
        <p:grpSpPr>
          <a:xfrm>
            <a:off x="2264186" y="2599171"/>
            <a:ext cx="1539676" cy="270000"/>
            <a:chOff x="408168" y="1846751"/>
            <a:chExt cx="2052901" cy="36000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D4C7A09-61BD-4ED9-3C4D-89626BFF9F0C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A9978DC-3750-3971-B6EF-E7371E2855FE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longitude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0258E8B-15D2-2DC9-A36F-FB3371001409}"/>
              </a:ext>
            </a:extLst>
          </p:cNvPr>
          <p:cNvGrpSpPr/>
          <p:nvPr/>
        </p:nvGrpSpPr>
        <p:grpSpPr>
          <a:xfrm>
            <a:off x="2263508" y="2919138"/>
            <a:ext cx="1539676" cy="270000"/>
            <a:chOff x="408168" y="1846751"/>
            <a:chExt cx="2052901" cy="36000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FE84383-2FE5-B950-34F6-B89175B02AC9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3D7B783-DAA6-A335-984B-3BFF9D61654F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latitude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7E69A82-CFCB-18E5-01A7-62DD9D98F30D}"/>
              </a:ext>
            </a:extLst>
          </p:cNvPr>
          <p:cNvGrpSpPr/>
          <p:nvPr/>
        </p:nvGrpSpPr>
        <p:grpSpPr>
          <a:xfrm>
            <a:off x="2261709" y="3239105"/>
            <a:ext cx="1539676" cy="270000"/>
            <a:chOff x="408168" y="1846751"/>
            <a:chExt cx="2052901" cy="3600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B23736A-AC7E-25AE-3418-8E7A313083DC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68623F40-38C4-3ABD-AD0C-C406D0CCFE3B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C47365D-D8A9-FD0E-0BDF-E3C89E9B1265}"/>
              </a:ext>
            </a:extLst>
          </p:cNvPr>
          <p:cNvGrpSpPr/>
          <p:nvPr/>
        </p:nvGrpSpPr>
        <p:grpSpPr>
          <a:xfrm>
            <a:off x="2260471" y="3559072"/>
            <a:ext cx="1539676" cy="270000"/>
            <a:chOff x="408168" y="1846751"/>
            <a:chExt cx="2052901" cy="3600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166FFF4-CF63-F94E-52B6-0FB53BBB4BC2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D862BEA-D95C-FACF-0DC5-C5A8FE63E13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is_active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4D18D82-8425-C029-2840-8DFB222096DB}"/>
              </a:ext>
            </a:extLst>
          </p:cNvPr>
          <p:cNvGrpSpPr/>
          <p:nvPr/>
        </p:nvGrpSpPr>
        <p:grpSpPr>
          <a:xfrm>
            <a:off x="2263847" y="4213699"/>
            <a:ext cx="1541476" cy="762003"/>
            <a:chOff x="2263847" y="3931301"/>
            <a:chExt cx="1541476" cy="762003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4D893F9B-6FAB-8E35-0F9F-67E217602650}"/>
                </a:ext>
              </a:extLst>
            </p:cNvPr>
            <p:cNvSpPr/>
            <p:nvPr/>
          </p:nvSpPr>
          <p:spPr>
            <a:xfrm flipH="1">
              <a:off x="2266323" y="3931904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D55920C-F942-8120-09BD-237385D7289F}"/>
                </a:ext>
              </a:extLst>
            </p:cNvPr>
            <p:cNvSpPr txBox="1"/>
            <p:nvPr/>
          </p:nvSpPr>
          <p:spPr>
            <a:xfrm>
              <a:off x="2263847" y="3934012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73F7A17C-706B-8D10-B0E3-C1FF08B1C2A3}"/>
                </a:ext>
              </a:extLst>
            </p:cNvPr>
            <p:cNvSpPr txBox="1"/>
            <p:nvPr/>
          </p:nvSpPr>
          <p:spPr>
            <a:xfrm>
              <a:off x="2266322" y="4314613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0E1FEB86-485D-5CDC-253C-ACCD912671CF}"/>
                </a:ext>
              </a:extLst>
            </p:cNvPr>
            <p:cNvSpPr txBox="1"/>
            <p:nvPr/>
          </p:nvSpPr>
          <p:spPr>
            <a:xfrm>
              <a:off x="2816528" y="3931301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91" name="Rectangle 90">
            <a:extLst>
              <a:ext uri="{FF2B5EF4-FFF2-40B4-BE49-F238E27FC236}">
                <a16:creationId xmlns:a16="http://schemas.microsoft.com/office/drawing/2014/main" id="{7EA3E285-7341-712D-CE4C-9B72D9CC91E7}"/>
              </a:ext>
            </a:extLst>
          </p:cNvPr>
          <p:cNvSpPr/>
          <p:nvPr/>
        </p:nvSpPr>
        <p:spPr>
          <a:xfrm>
            <a:off x="4119192" y="1577451"/>
            <a:ext cx="1754999" cy="31798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1B80AE-2FBC-0B23-F12F-C6A62BB2C5CD}"/>
              </a:ext>
            </a:extLst>
          </p:cNvPr>
          <p:cNvSpPr/>
          <p:nvPr/>
        </p:nvSpPr>
        <p:spPr>
          <a:xfrm>
            <a:off x="4119194" y="1577451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7A344DA-55D6-3CAF-110D-271E643A1592}"/>
              </a:ext>
            </a:extLst>
          </p:cNvPr>
          <p:cNvSpPr txBox="1"/>
          <p:nvPr/>
        </p:nvSpPr>
        <p:spPr>
          <a:xfrm>
            <a:off x="4119191" y="157745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BusDataHistory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DC0BB03-4629-A684-FC51-37153845D7E8}"/>
              </a:ext>
            </a:extLst>
          </p:cNvPr>
          <p:cNvSpPr/>
          <p:nvPr/>
        </p:nvSpPr>
        <p:spPr>
          <a:xfrm>
            <a:off x="4119191" y="1577451"/>
            <a:ext cx="1755000" cy="317981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DD6E15A-960A-B930-0759-2C8256F59AFE}"/>
              </a:ext>
            </a:extLst>
          </p:cNvPr>
          <p:cNvGrpSpPr/>
          <p:nvPr/>
        </p:nvGrpSpPr>
        <p:grpSpPr>
          <a:xfrm>
            <a:off x="4223221" y="1959237"/>
            <a:ext cx="1539676" cy="270000"/>
            <a:chOff x="408168" y="1846751"/>
            <a:chExt cx="2052901" cy="36000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41127BEC-D1A0-1C29-8452-686C319A9FC9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95208C7-B796-60C9-6330-FF91BD367C3D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busstop_id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7FE2813-8FA3-8C94-72EA-53284CBB4D63}"/>
              </a:ext>
            </a:extLst>
          </p:cNvPr>
          <p:cNvGrpSpPr/>
          <p:nvPr/>
        </p:nvGrpSpPr>
        <p:grpSpPr>
          <a:xfrm>
            <a:off x="4224799" y="2279204"/>
            <a:ext cx="1539676" cy="270000"/>
            <a:chOff x="408168" y="1846751"/>
            <a:chExt cx="2052901" cy="36000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EA1772F2-455B-C915-82D0-A6F4DDD19E2B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A8315C2-5FDF-CE24-092A-9E19457A7712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bus_id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4948BC1A-A7A6-066B-0FC8-EB21C7B0D96D}"/>
              </a:ext>
            </a:extLst>
          </p:cNvPr>
          <p:cNvGrpSpPr/>
          <p:nvPr/>
        </p:nvGrpSpPr>
        <p:grpSpPr>
          <a:xfrm>
            <a:off x="4223561" y="2599171"/>
            <a:ext cx="1539676" cy="270000"/>
            <a:chOff x="408168" y="1846751"/>
            <a:chExt cx="2052901" cy="36000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110146D-200B-AFB6-5D21-C3047368492E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245BAE0-6A2E-8FFC-7F53-8925432A7B81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2BE102D8-D3F6-22EA-06CE-63E44EE188B7}"/>
              </a:ext>
            </a:extLst>
          </p:cNvPr>
          <p:cNvGrpSpPr/>
          <p:nvPr/>
        </p:nvGrpSpPr>
        <p:grpSpPr>
          <a:xfrm>
            <a:off x="4222883" y="2919138"/>
            <a:ext cx="1539676" cy="270000"/>
            <a:chOff x="408168" y="1846751"/>
            <a:chExt cx="2052901" cy="36000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6210398A-DA5F-CF7A-5B81-503A66FBE38A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569C091C-9B64-0071-57B4-CADF33E86DA9}"/>
                </a:ext>
              </a:extLst>
            </p:cNvPr>
            <p:cNvSpPr txBox="1"/>
            <p:nvPr/>
          </p:nvSpPr>
          <p:spPr>
            <a:xfrm>
              <a:off x="408168" y="1849564"/>
              <a:ext cx="1677209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passengers_on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D45CBCB7-0ACD-8BE4-CFBD-3A590C0737EF}"/>
              </a:ext>
            </a:extLst>
          </p:cNvPr>
          <p:cNvGrpSpPr/>
          <p:nvPr/>
        </p:nvGrpSpPr>
        <p:grpSpPr>
          <a:xfrm>
            <a:off x="4221084" y="3239105"/>
            <a:ext cx="1539676" cy="270000"/>
            <a:chOff x="408168" y="1846751"/>
            <a:chExt cx="2052901" cy="3600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52A3E69A-7E77-74DE-BE04-D1C79B08DCE2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09CB65D-1AA8-A50D-13AA-0E0CA26829E9}"/>
                </a:ext>
              </a:extLst>
            </p:cNvPr>
            <p:cNvSpPr txBox="1"/>
            <p:nvPr/>
          </p:nvSpPr>
          <p:spPr>
            <a:xfrm>
              <a:off x="408168" y="1849564"/>
              <a:ext cx="173944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passengers_off</a:t>
              </a:r>
              <a:endParaRPr lang="en-US" sz="825" b="1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79B1A6D-7FB3-6B92-82C3-1D778AB1AA74}"/>
              </a:ext>
            </a:extLst>
          </p:cNvPr>
          <p:cNvGrpSpPr/>
          <p:nvPr/>
        </p:nvGrpSpPr>
        <p:grpSpPr>
          <a:xfrm>
            <a:off x="4221084" y="3889178"/>
            <a:ext cx="1541476" cy="762003"/>
            <a:chOff x="4221084" y="3606780"/>
            <a:chExt cx="1541476" cy="76200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4715453-29A3-8A25-F8F4-2A50ABA10757}"/>
                </a:ext>
              </a:extLst>
            </p:cNvPr>
            <p:cNvSpPr/>
            <p:nvPr/>
          </p:nvSpPr>
          <p:spPr>
            <a:xfrm flipH="1">
              <a:off x="4223560" y="3607383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47790CA-6FB4-93DA-B5B6-A727DAAE58DD}"/>
                </a:ext>
              </a:extLst>
            </p:cNvPr>
            <p:cNvSpPr txBox="1"/>
            <p:nvPr/>
          </p:nvSpPr>
          <p:spPr>
            <a:xfrm>
              <a:off x="4221084" y="3609491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AA16FC41-E5C8-DB02-7A0F-1D0CC796DE71}"/>
                </a:ext>
              </a:extLst>
            </p:cNvPr>
            <p:cNvSpPr txBox="1"/>
            <p:nvPr/>
          </p:nvSpPr>
          <p:spPr>
            <a:xfrm>
              <a:off x="4223559" y="3990092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9841C7E3-6F0C-B0D1-6EEE-702EA5017516}"/>
                </a:ext>
              </a:extLst>
            </p:cNvPr>
            <p:cNvSpPr txBox="1"/>
            <p:nvPr/>
          </p:nvSpPr>
          <p:spPr>
            <a:xfrm>
              <a:off x="4773765" y="3606780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BDA7B5CE-3512-D8AD-E234-F0096B68CB1A}"/>
              </a:ext>
            </a:extLst>
          </p:cNvPr>
          <p:cNvSpPr txBox="1"/>
          <p:nvPr/>
        </p:nvSpPr>
        <p:spPr>
          <a:xfrm>
            <a:off x="203075" y="815251"/>
            <a:ext cx="6451850" cy="395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 주제의 골자가 되는 중요한 데이터 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서울시 버스 교통 이용 현황을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이라는 가장 세분화된 단위로 파악하고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이를 통해 교통 접근성을 분석하기 위한 원천 데이터가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C1F8D1B-DAD9-207D-5B53-B829AE2CC939}"/>
              </a:ext>
            </a:extLst>
          </p:cNvPr>
          <p:cNvSpPr txBox="1"/>
          <p:nvPr/>
        </p:nvSpPr>
        <p:spPr>
          <a:xfrm>
            <a:off x="203075" y="607499"/>
            <a:ext cx="1459470" cy="219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수집한 데이터를 보존하는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CB5A03B-724B-439E-2263-F4E7E187C2CB}"/>
              </a:ext>
            </a:extLst>
          </p:cNvPr>
          <p:cNvGrpSpPr/>
          <p:nvPr/>
        </p:nvGrpSpPr>
        <p:grpSpPr>
          <a:xfrm>
            <a:off x="303649" y="2923811"/>
            <a:ext cx="1539676" cy="270000"/>
            <a:chOff x="408168" y="1846751"/>
            <a:chExt cx="2052901" cy="360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9539E1-E63D-B46E-61DB-3D97E499A529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7555A6-6166-9DCC-C95E-9AE5626AF433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AA7AEC-B00A-A601-B360-7F58A6A32A22}"/>
              </a:ext>
            </a:extLst>
          </p:cNvPr>
          <p:cNvGrpSpPr/>
          <p:nvPr/>
        </p:nvGrpSpPr>
        <p:grpSpPr>
          <a:xfrm>
            <a:off x="2257994" y="3886008"/>
            <a:ext cx="1539676" cy="270000"/>
            <a:chOff x="408168" y="1846751"/>
            <a:chExt cx="2052901" cy="360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7BFCC86-2469-6688-E10A-5F04B1F39470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28DB4D-9B3E-25D3-8840-DD5708BED008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A8C1517-126F-BF74-1B56-A0C09F84DBCD}"/>
              </a:ext>
            </a:extLst>
          </p:cNvPr>
          <p:cNvGrpSpPr/>
          <p:nvPr/>
        </p:nvGrpSpPr>
        <p:grpSpPr>
          <a:xfrm>
            <a:off x="4218607" y="3566041"/>
            <a:ext cx="1539676" cy="270000"/>
            <a:chOff x="408168" y="1846751"/>
            <a:chExt cx="2052901" cy="360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7833FC9-98F8-E8F8-02E2-15BDA3FA5AAE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349B135-A5FF-4EB2-16B2-00BD982B1700}"/>
                </a:ext>
              </a:extLst>
            </p:cNvPr>
            <p:cNvSpPr txBox="1"/>
            <p:nvPr/>
          </p:nvSpPr>
          <p:spPr>
            <a:xfrm>
              <a:off x="408168" y="1849564"/>
              <a:ext cx="173944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timestamp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5240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F2C96A-7D9C-341F-EE12-6F6372126C01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수집 출처와 과정 다이어그램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4259B-E64E-7ACA-C457-931A3B02A9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모델 별 저장 정보의 출처와 정보의 이동 경로를 명세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B76CCA-CA43-075D-AC72-5D22DA418F0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45113F95-575A-32CD-867D-95488FCA1580}"/>
              </a:ext>
            </a:extLst>
          </p:cNvPr>
          <p:cNvSpPr/>
          <p:nvPr/>
        </p:nvSpPr>
        <p:spPr>
          <a:xfrm>
            <a:off x="80102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0C658A-1997-A73C-03BE-64C1C10F50A0}"/>
              </a:ext>
            </a:extLst>
          </p:cNvPr>
          <p:cNvSpPr/>
          <p:nvPr/>
        </p:nvSpPr>
        <p:spPr>
          <a:xfrm>
            <a:off x="4845773" y="1488017"/>
            <a:ext cx="468351" cy="237892"/>
          </a:xfrm>
          <a:prstGeom prst="roundRect">
            <a:avLst>
              <a:gd name="adj" fmla="val 50000"/>
            </a:avLst>
          </a:prstGeom>
          <a:solidFill>
            <a:srgbClr val="4DC9B0"/>
          </a:solidFill>
          <a:ln w="12700">
            <a:solidFill>
              <a:srgbClr val="44B2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9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B1538BF-881A-BFB4-485D-D178AB0E193B}"/>
              </a:ext>
            </a:extLst>
          </p:cNvPr>
          <p:cNvSpPr/>
          <p:nvPr/>
        </p:nvSpPr>
        <p:spPr>
          <a:xfrm>
            <a:off x="200024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F9F14D6-92EF-F7E4-BF4E-ED4EAE852AF7}"/>
              </a:ext>
            </a:extLst>
          </p:cNvPr>
          <p:cNvSpPr/>
          <p:nvPr/>
        </p:nvSpPr>
        <p:spPr>
          <a:xfrm>
            <a:off x="801028" y="2263789"/>
            <a:ext cx="1199220" cy="1595935"/>
          </a:xfrm>
          <a:prstGeom prst="roundRect">
            <a:avLst>
              <a:gd name="adj" fmla="val 801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t">
            <a:noAutofit/>
          </a:bodyPr>
          <a:lstStyle/>
          <a:p>
            <a:r>
              <a:rPr 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884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1517</TotalTime>
  <Words>1838</Words>
  <Application>Microsoft Macintosh PowerPoint</Application>
  <PresentationFormat>A4 Paper (210x297 mm)</PresentationFormat>
  <Paragraphs>186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Cascadia Code</vt:lpstr>
      <vt:lpstr>Pretendard</vt:lpstr>
      <vt:lpstr>Aptos Display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김도균</dc:creator>
  <cp:lastModifiedBy>김도균</cp:lastModifiedBy>
  <cp:revision>42</cp:revision>
  <dcterms:created xsi:type="dcterms:W3CDTF">2025-10-22T06:46:32Z</dcterms:created>
  <dcterms:modified xsi:type="dcterms:W3CDTF">2025-10-28T03:26:31Z</dcterms:modified>
</cp:coreProperties>
</file>